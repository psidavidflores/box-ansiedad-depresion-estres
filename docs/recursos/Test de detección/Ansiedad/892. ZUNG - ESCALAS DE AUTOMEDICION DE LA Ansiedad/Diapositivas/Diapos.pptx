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78" r:id="rId13"/>
    <p:sldId id="256" r:id="rId14"/>
    <p:sldId id="257" r:id="rId15"/>
    <p:sldId id="258" r:id="rId16"/>
    <p:sldId id="259" r:id="rId17"/>
    <p:sldId id="301" r:id="rId18"/>
    <p:sldId id="302" r:id="rId19"/>
    <p:sldId id="303" r:id="rId20"/>
    <p:sldId id="304" r:id="rId21"/>
    <p:sldId id="260" r:id="rId22"/>
    <p:sldId id="261" r:id="rId23"/>
    <p:sldId id="262" r:id="rId24"/>
    <p:sldId id="263" r:id="rId25"/>
    <p:sldId id="264" r:id="rId26"/>
    <p:sldId id="314" r:id="rId27"/>
    <p:sldId id="315" r:id="rId28"/>
    <p:sldId id="313" r:id="rId29"/>
    <p:sldId id="319" r:id="rId30"/>
    <p:sldId id="265" r:id="rId31"/>
    <p:sldId id="266" r:id="rId32"/>
    <p:sldId id="267" r:id="rId33"/>
    <p:sldId id="297" r:id="rId34"/>
    <p:sldId id="298" r:id="rId35"/>
    <p:sldId id="299" r:id="rId36"/>
    <p:sldId id="300" r:id="rId37"/>
    <p:sldId id="268" r:id="rId38"/>
    <p:sldId id="269" r:id="rId39"/>
    <p:sldId id="270" r:id="rId40"/>
    <p:sldId id="271" r:id="rId41"/>
    <p:sldId id="272" r:id="rId42"/>
    <p:sldId id="317" r:id="rId43"/>
    <p:sldId id="318" r:id="rId44"/>
    <p:sldId id="316" r:id="rId45"/>
    <p:sldId id="320" r:id="rId46"/>
    <p:sldId id="296" r:id="rId47"/>
    <p:sldId id="273" r:id="rId48"/>
    <p:sldId id="312" r:id="rId49"/>
    <p:sldId id="274" r:id="rId50"/>
    <p:sldId id="275" r:id="rId51"/>
    <p:sldId id="305" r:id="rId52"/>
    <p:sldId id="306" r:id="rId53"/>
    <p:sldId id="276" r:id="rId54"/>
    <p:sldId id="307" r:id="rId55"/>
    <p:sldId id="277" r:id="rId56"/>
    <p:sldId id="308" r:id="rId57"/>
    <p:sldId id="309" r:id="rId58"/>
    <p:sldId id="279" r:id="rId59"/>
    <p:sldId id="310" r:id="rId60"/>
    <p:sldId id="311" r:id="rId61"/>
    <p:sldId id="280" r:id="rId62"/>
    <p:sldId id="281" r:id="rId63"/>
    <p:sldId id="282" r:id="rId64"/>
    <p:sldId id="283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285" r:id="rId73"/>
    <p:sldId id="328" r:id="rId74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0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75841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343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002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0472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1465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36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137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56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776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498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2389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0FD25-C91C-450A-9C43-EC82E96F9A9E}" type="datetimeFigureOut">
              <a:rPr lang="es-PE" smtClean="0"/>
              <a:pPr/>
              <a:t>27/10/2017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7646E-7A33-42D8-9CC8-DE653B9E14B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13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mailto:psluisavila@psicologos.com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3068960"/>
            <a:ext cx="8229600" cy="1143000"/>
          </a:xfrm>
        </p:spPr>
        <p:txBody>
          <a:bodyPr>
            <a:noAutofit/>
          </a:bodyPr>
          <a:lstStyle/>
          <a:p>
            <a:r>
              <a:rPr lang="es-PE" sz="3600" b="1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Escala de Auto-evaluación de </a:t>
            </a:r>
            <a:r>
              <a:rPr lang="es-PE" sz="3600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lang="es-PE" sz="3600" b="1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ung de Depresión y Ansiedad / Inventario de depresión de Beck </a:t>
            </a:r>
            <a:endParaRPr lang="es-PE" sz="3600" b="1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61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/>
              <a:t>¿Qué es la depresión?</a:t>
            </a:r>
            <a:endParaRPr lang="es-PE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147248" cy="197281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PE" dirty="0"/>
              <a:t>La depresión se puede describir como el hecho de sentirse triste, melancólico, infeliz, abatido o derrumbado. La mayoría de nosotros se siente de esta manera una que otra vez durante períodos </a:t>
            </a:r>
            <a:r>
              <a:rPr lang="es-PE" dirty="0" smtClean="0"/>
              <a:t>cortos</a:t>
            </a:r>
            <a:endParaRPr lang="es-PE" dirty="0"/>
          </a:p>
        </p:txBody>
      </p:sp>
      <p:pic>
        <p:nvPicPr>
          <p:cNvPr id="1026" name="Picture 2" descr="https://encrypted-tbn0.gstatic.com/images?q=tbn:ANd9GcSubIl1yyQwJvvD94UufpDboCQlqmgLZEFqe9zGQdDIPbtZtog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717032"/>
            <a:ext cx="3424502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16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4.bp.blogspot.com/-h6XHy7gRzf8/UFkElgf0nHI/AAAAAAAABOg/3WTz-YMbjpU/s1600/Depresi%C3%B3n+face+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08720"/>
            <a:ext cx="6062848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90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836712"/>
            <a:ext cx="8075240" cy="778098"/>
          </a:xfrm>
        </p:spPr>
        <p:txBody>
          <a:bodyPr>
            <a:normAutofit fontScale="90000"/>
          </a:bodyPr>
          <a:lstStyle/>
          <a:p>
            <a:pPr lvl="0"/>
            <a:r>
              <a:rPr lang="es-ES" b="1" dirty="0"/>
              <a:t>NOMBRE Y CÓDIGO</a:t>
            </a:r>
            <a:r>
              <a:rPr lang="es-PE" dirty="0"/>
              <a:t/>
            </a:r>
            <a:br>
              <a:rPr lang="es-PE" dirty="0"/>
            </a:b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4042792" cy="4853135"/>
          </a:xfrm>
        </p:spPr>
        <p:txBody>
          <a:bodyPr>
            <a:normAutofit/>
          </a:bodyPr>
          <a:lstStyle/>
          <a:p>
            <a:endParaRPr lang="es-ES" sz="2400" dirty="0" smtClean="0"/>
          </a:p>
          <a:p>
            <a:endParaRPr lang="es-ES" sz="2400" dirty="0"/>
          </a:p>
          <a:p>
            <a:endParaRPr lang="es-ES" sz="2400" dirty="0" smtClean="0"/>
          </a:p>
          <a:p>
            <a:r>
              <a:rPr lang="es-ES" sz="2400" dirty="0" smtClean="0"/>
              <a:t>La </a:t>
            </a:r>
            <a:r>
              <a:rPr lang="es-ES" sz="2400" dirty="0"/>
              <a:t>depresión se encuentra clasificada en la CIE–10 dentro de los TRASTORNOS DEL HUMOR (AFECTIVOS) F30-39. </a:t>
            </a:r>
            <a:endParaRPr lang="es-PE" sz="2400" b="1" dirty="0"/>
          </a:p>
          <a:p>
            <a:endParaRPr lang="es-PE" dirty="0"/>
          </a:p>
          <a:p>
            <a:endParaRPr lang="es-PE" dirty="0"/>
          </a:p>
        </p:txBody>
      </p:sp>
      <p:pic>
        <p:nvPicPr>
          <p:cNvPr id="4098" name="Picture 2" descr="http://alibri.es/image/cache/covers/4/e/98056-800x80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40768"/>
            <a:ext cx="4248472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80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27089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dirty="0"/>
              <a:t>La guía hará referencia principalmente a los Episodios depresivos F32 , que a su vez comprenden:</a:t>
            </a:r>
            <a:r>
              <a:rPr lang="es-PE" b="1" dirty="0"/>
              <a:t/>
            </a:r>
            <a:br>
              <a:rPr lang="es-PE" b="1" dirty="0"/>
            </a:b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7769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620688"/>
            <a:ext cx="8229600" cy="4525963"/>
          </a:xfrm>
        </p:spPr>
        <p:txBody>
          <a:bodyPr/>
          <a:lstStyle/>
          <a:p>
            <a:r>
              <a:rPr lang="es-ES" sz="2800" dirty="0">
                <a:latin typeface="Arial" pitchFamily="34" charset="0"/>
                <a:cs typeface="Arial" pitchFamily="34" charset="0"/>
              </a:rPr>
              <a:t>F32.0 Episodio depresivo leve </a:t>
            </a:r>
            <a:endParaRPr lang="es-PE" sz="2800" dirty="0">
              <a:latin typeface="Arial" pitchFamily="34" charset="0"/>
              <a:cs typeface="Arial" pitchFamily="34" charset="0"/>
            </a:endParaRPr>
          </a:p>
          <a:p>
            <a:pPr lvl="3"/>
            <a:r>
              <a:rPr lang="es-ES" sz="2800" dirty="0" smtClean="0">
                <a:latin typeface="Arial" pitchFamily="34" charset="0"/>
                <a:cs typeface="Arial" pitchFamily="34" charset="0"/>
              </a:rPr>
              <a:t>F32.00 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sin síntomas 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somáticos</a:t>
            </a:r>
            <a:endParaRPr lang="es-PE" sz="2800" dirty="0">
              <a:latin typeface="Arial" pitchFamily="34" charset="0"/>
              <a:cs typeface="Arial" pitchFamily="34" charset="0"/>
            </a:endParaRPr>
          </a:p>
          <a:p>
            <a:pPr lvl="3"/>
            <a:r>
              <a:rPr lang="es-ES" sz="2800" dirty="0" smtClean="0">
                <a:latin typeface="Arial" pitchFamily="34" charset="0"/>
                <a:cs typeface="Arial" pitchFamily="34" charset="0"/>
              </a:rPr>
              <a:t>F32.01 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con síntomas somáticos </a:t>
            </a:r>
            <a:endParaRPr lang="es-PE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s-PE" dirty="0"/>
          </a:p>
        </p:txBody>
      </p:sp>
      <p:pic>
        <p:nvPicPr>
          <p:cNvPr id="5122" name="Picture 2" descr="https://encrypted-tbn2.gstatic.com/images?q=tbn:ANd9GcSud8a4ckVB5zkHyvXGExTUvVvhlkq4rAfYQPzdNgc_udb4oGFHS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564904"/>
            <a:ext cx="47720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52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4525963"/>
          </a:xfrm>
        </p:spPr>
        <p:txBody>
          <a:bodyPr/>
          <a:lstStyle/>
          <a:p>
            <a:r>
              <a:rPr lang="es-ES" sz="2800" dirty="0" smtClean="0">
                <a:latin typeface="Arial" pitchFamily="34" charset="0"/>
                <a:cs typeface="Arial" pitchFamily="34" charset="0"/>
              </a:rPr>
              <a:t>F32.1 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Episodio depresivo m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oderado  </a:t>
            </a:r>
            <a:endParaRPr lang="es-PE" sz="2800" dirty="0">
              <a:latin typeface="Arial" pitchFamily="34" charset="0"/>
              <a:cs typeface="Arial" pitchFamily="34" charset="0"/>
            </a:endParaRPr>
          </a:p>
          <a:p>
            <a:pPr lvl="3"/>
            <a:r>
              <a:rPr lang="es-ES" sz="2800" dirty="0" smtClean="0">
                <a:latin typeface="Arial" pitchFamily="34" charset="0"/>
                <a:cs typeface="Arial" pitchFamily="34" charset="0"/>
              </a:rPr>
              <a:t>F32.10 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sin síntomas 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somáticos</a:t>
            </a:r>
            <a:endParaRPr lang="es-PE" sz="2800" dirty="0">
              <a:latin typeface="Arial" pitchFamily="34" charset="0"/>
              <a:cs typeface="Arial" pitchFamily="34" charset="0"/>
            </a:endParaRPr>
          </a:p>
          <a:p>
            <a:pPr lvl="3"/>
            <a:r>
              <a:rPr lang="es-ES" sz="2800" dirty="0" smtClean="0">
                <a:latin typeface="Arial" pitchFamily="34" charset="0"/>
                <a:cs typeface="Arial" pitchFamily="34" charset="0"/>
              </a:rPr>
              <a:t>F32.11 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con síntomas somáticos </a:t>
            </a:r>
            <a:endParaRPr lang="es-PE" sz="2800" dirty="0">
              <a:latin typeface="Arial" pitchFamily="34" charset="0"/>
              <a:cs typeface="Arial" pitchFamily="34" charset="0"/>
            </a:endParaRPr>
          </a:p>
          <a:p>
            <a:endParaRPr lang="es-PE" dirty="0"/>
          </a:p>
        </p:txBody>
      </p:sp>
      <p:pic>
        <p:nvPicPr>
          <p:cNvPr id="6146" name="Picture 2" descr="http://www.tubesalud.com/wp-content/plugins/WPRobot/images/558ba_deporte-depresi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348880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260648"/>
            <a:ext cx="8219256" cy="2980928"/>
          </a:xfrm>
        </p:spPr>
        <p:txBody>
          <a:bodyPr>
            <a:normAutofit fontScale="92500"/>
          </a:bodyPr>
          <a:lstStyle/>
          <a:p>
            <a:pPr algn="just"/>
            <a:r>
              <a:rPr lang="es-ES" dirty="0"/>
              <a:t>F32.2 Episodio depresivo grave sin síntomas psicóticos</a:t>
            </a:r>
            <a:endParaRPr lang="es-PE" dirty="0"/>
          </a:p>
          <a:p>
            <a:pPr algn="just"/>
            <a:r>
              <a:rPr lang="es-ES" dirty="0"/>
              <a:t>F32.3 Episodio depresivo con síntomas psicóticos</a:t>
            </a:r>
            <a:endParaRPr lang="es-PE" dirty="0"/>
          </a:p>
          <a:p>
            <a:pPr algn="just"/>
            <a:r>
              <a:rPr lang="es-ES" dirty="0"/>
              <a:t>F32.8 Otros episodios depresivos</a:t>
            </a:r>
            <a:endParaRPr lang="es-PE" dirty="0"/>
          </a:p>
          <a:p>
            <a:pPr algn="just"/>
            <a:r>
              <a:rPr lang="es-ES" dirty="0"/>
              <a:t>F32.9 Episodio depresivo sin especificación </a:t>
            </a:r>
            <a:endParaRPr lang="es-PE" dirty="0"/>
          </a:p>
          <a:p>
            <a:endParaRPr lang="es-PE" dirty="0"/>
          </a:p>
        </p:txBody>
      </p:sp>
      <p:pic>
        <p:nvPicPr>
          <p:cNvPr id="7170" name="Picture 2" descr="https://encrypted-tbn2.gstatic.com/images?q=tbn:ANd9GcRImHazUptTAB1DeNYk-yVPRF2w9lWnECychHs3Wv79Srt7K0qv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140968"/>
            <a:ext cx="476250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40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19256" cy="850106"/>
          </a:xfrm>
        </p:spPr>
        <p:txBody>
          <a:bodyPr>
            <a:normAutofit fontScale="90000"/>
          </a:bodyPr>
          <a:lstStyle/>
          <a:p>
            <a:r>
              <a:rPr lang="es-PE" b="1" dirty="0"/>
              <a:t>¿Qué es la ansiedad?</a:t>
            </a:r>
            <a:br>
              <a:rPr lang="es-PE" b="1" dirty="0"/>
            </a:b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980728"/>
            <a:ext cx="8748464" cy="4320480"/>
          </a:xfrm>
        </p:spPr>
        <p:txBody>
          <a:bodyPr>
            <a:normAutofit/>
          </a:bodyPr>
          <a:lstStyle/>
          <a:p>
            <a:pPr algn="just"/>
            <a:r>
              <a:rPr lang="es-PE" sz="2800" dirty="0">
                <a:latin typeface="Arial" pitchFamily="34" charset="0"/>
                <a:cs typeface="Arial" pitchFamily="34" charset="0"/>
              </a:rPr>
              <a:t>La ansiedad </a:t>
            </a:r>
            <a:r>
              <a:rPr lang="es-PE" sz="2800" dirty="0" smtClean="0">
                <a:latin typeface="Arial" pitchFamily="34" charset="0"/>
                <a:cs typeface="Arial" pitchFamily="34" charset="0"/>
              </a:rPr>
              <a:t>es parte de </a:t>
            </a:r>
            <a:r>
              <a:rPr lang="es-PE" sz="2800" dirty="0">
                <a:latin typeface="Arial" pitchFamily="34" charset="0"/>
                <a:cs typeface="Arial" pitchFamily="34" charset="0"/>
              </a:rPr>
              <a:t>un aspecto normal del estado emocional de los seres humanos. </a:t>
            </a:r>
            <a:endParaRPr lang="es-PE" sz="28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PE" sz="2800" dirty="0" smtClean="0">
                <a:latin typeface="Arial" pitchFamily="34" charset="0"/>
                <a:cs typeface="Arial" pitchFamily="34" charset="0"/>
              </a:rPr>
              <a:t>La angustia se define como un afecto similar al miedo pero que, a diferencia de este, no obedece a un estímulo amenazante externo.</a:t>
            </a:r>
            <a:endParaRPr lang="es-PE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196" name="Picture 4" descr="http://www.estrelladigital.es/salud/ansiedad-vez-recurrente_ESTIMA20121123_0024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501007"/>
            <a:ext cx="3312368" cy="294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74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encrypted-tbn1.gstatic.com/images?q=tbn:ANd9GcT1D2-QcF-6DT4YF6rgPFVPHkPV0_BHtMGuRPc07GYUzcO0dK5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908720"/>
            <a:ext cx="4641542" cy="46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36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encrypted-tbn3.gstatic.com/images?q=tbn:ANd9GcSDuDBEziIrFNfKANzp08pvDpZyLlB6JZwjcwhgiJeuILQHDyINF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12776"/>
            <a:ext cx="283055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://www.monografias.com/trabajos96/psicometria-aplicada/image03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980728"/>
            <a:ext cx="4695825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http://www.monografias.com/trabajos96/psicometria-aplicada/image025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335" y="3717032"/>
            <a:ext cx="4743450" cy="150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98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7544" y="40466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DESCRIPCIÓN</a:t>
            </a:r>
            <a:r>
              <a:rPr lang="es-PE" b="1" dirty="0"/>
              <a:t/>
            </a:r>
            <a:br>
              <a:rPr lang="es-PE" b="1" dirty="0"/>
            </a:br>
            <a:r>
              <a:rPr lang="es-PE" b="1" dirty="0" smtClean="0"/>
              <a:t>DEL INVENTARIO DE DEPRESION DE ZUNG</a:t>
            </a:r>
            <a:endParaRPr lang="es-PE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95536" y="2132856"/>
            <a:ext cx="8352928" cy="4320480"/>
          </a:xfrm>
        </p:spPr>
        <p:txBody>
          <a:bodyPr>
            <a:normAutofit/>
          </a:bodyPr>
          <a:lstStyle/>
          <a:p>
            <a:pPr algn="just"/>
            <a:endParaRPr lang="es-PE" sz="2800" dirty="0" smtClean="0">
              <a:solidFill>
                <a:schemeClr val="tx1"/>
              </a:solidFill>
            </a:endParaRPr>
          </a:p>
          <a:p>
            <a:pPr algn="just"/>
            <a:r>
              <a:rPr lang="es-PE" sz="2800" dirty="0" smtClean="0">
                <a:solidFill>
                  <a:schemeClr val="tx1"/>
                </a:solidFill>
              </a:rPr>
              <a:t>La Escala Autoaplicada de Depresión de Zung (Self-Rating Depresión Scale, SDS), desarrollada por Zung en 1965, es una escala de cuantificación de síntomas de base empírica y derivada en cierto modo de la escala de depresión de Hamilton</a:t>
            </a:r>
            <a:endParaRPr lang="es-PE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755576" y="908720"/>
            <a:ext cx="7304856" cy="4802088"/>
          </a:xfrm>
        </p:spPr>
        <p:txBody>
          <a:bodyPr>
            <a:normAutofit/>
          </a:bodyPr>
          <a:lstStyle/>
          <a:p>
            <a:pPr algn="just"/>
            <a:endParaRPr lang="es-PE" dirty="0" smtClean="0">
              <a:solidFill>
                <a:schemeClr val="tx1"/>
              </a:solidFill>
            </a:endParaRP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Es una escala autoaplicada formada por 20 frases relacionadas con la depresión, formuladas la mitad en términos positivos y la otra mitad en términos negativos. Tienen gran peso los síntomas somáticos y los cognitivos.</a:t>
            </a:r>
            <a:endParaRPr lang="es-P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26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764704"/>
            <a:ext cx="6584776" cy="4874096"/>
          </a:xfrm>
        </p:spPr>
        <p:txBody>
          <a:bodyPr/>
          <a:lstStyle/>
          <a:p>
            <a:pPr algn="just"/>
            <a:r>
              <a:rPr lang="es-PE" dirty="0" smtClean="0">
                <a:solidFill>
                  <a:schemeClr val="tx1"/>
                </a:solidFill>
              </a:rPr>
              <a:t>El paciente cuantifica no la intensidad sino solamente la frecuencia de los síntomas.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12290" name="Picture 2" descr="http://www.yoga-taichi91.fr/images/depressi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492896"/>
            <a:ext cx="3456384" cy="348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71600" y="2132856"/>
            <a:ext cx="7632848" cy="1584176"/>
          </a:xfrm>
        </p:spPr>
        <p:txBody>
          <a:bodyPr>
            <a:normAutofit/>
          </a:bodyPr>
          <a:lstStyle/>
          <a:p>
            <a:r>
              <a:rPr lang="es-PE" b="1" dirty="0" smtClean="0"/>
              <a:t>FRASES DE LA ESCALA DE DEPRESION DEL ZUNG 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844731"/>
              </p:ext>
            </p:extLst>
          </p:nvPr>
        </p:nvGraphicFramePr>
        <p:xfrm>
          <a:off x="539552" y="1196752"/>
          <a:ext cx="8280919" cy="46805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615"/>
                <a:gridCol w="3818558"/>
                <a:gridCol w="812596"/>
                <a:gridCol w="813518"/>
                <a:gridCol w="812596"/>
                <a:gridCol w="813518"/>
                <a:gridCol w="813518"/>
              </a:tblGrid>
              <a:tr h="1162043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Nunca o Casi Nunca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A</a:t>
                      </a:r>
                      <a:endParaRPr lang="es-PE" sz="24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veces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Con bastante</a:t>
                      </a:r>
                      <a:endParaRPr lang="es-PE" sz="24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frecuencia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Siempre o casi siempre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puntos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806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1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Me siento abatido y melancólico.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1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2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3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4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10975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2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Por las mañanas es cuando me siento mejor.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4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3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2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1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806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3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Tengo acceso de llanto o ganas de llorar.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1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2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3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4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806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4</a:t>
                      </a:r>
                      <a:endParaRPr lang="es-PE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Duermo mal.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1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2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3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4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948262"/>
              </p:ext>
            </p:extLst>
          </p:nvPr>
        </p:nvGraphicFramePr>
        <p:xfrm>
          <a:off x="539552" y="1124744"/>
          <a:ext cx="8352927" cy="72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2"/>
                <a:gridCol w="3851759"/>
                <a:gridCol w="819662"/>
                <a:gridCol w="820594"/>
                <a:gridCol w="819662"/>
                <a:gridCol w="820594"/>
                <a:gridCol w="820594"/>
              </a:tblGrid>
              <a:tr h="720080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600" dirty="0">
                          <a:effectLst/>
                        </a:rPr>
                        <a:t> </a:t>
                      </a:r>
                      <a:endParaRPr lang="es-PE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Nunca o Casi Nunca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veces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Con bastante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frecuencia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Siempre o casi siempre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puntos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510072"/>
              </p:ext>
            </p:extLst>
          </p:nvPr>
        </p:nvGraphicFramePr>
        <p:xfrm>
          <a:off x="539551" y="1834437"/>
          <a:ext cx="8352930" cy="38988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4"/>
                <a:gridCol w="3851763"/>
                <a:gridCol w="819662"/>
                <a:gridCol w="820593"/>
                <a:gridCol w="819662"/>
                <a:gridCol w="820593"/>
                <a:gridCol w="820593"/>
              </a:tblGrid>
              <a:tr h="4847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5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Tengo tanto apetito como antes.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12481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6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Aún me atraen las personas de sexo opuesto.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9177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7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Noto que estoy perdiendo peso.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12481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8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Tengo trastornos intestinales y estreñimiento.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323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788497"/>
              </p:ext>
            </p:extLst>
          </p:nvPr>
        </p:nvGraphicFramePr>
        <p:xfrm>
          <a:off x="467544" y="980728"/>
          <a:ext cx="8352927" cy="72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2"/>
                <a:gridCol w="3851759"/>
                <a:gridCol w="819662"/>
                <a:gridCol w="820594"/>
                <a:gridCol w="819662"/>
                <a:gridCol w="820594"/>
                <a:gridCol w="820594"/>
              </a:tblGrid>
              <a:tr h="720080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600" dirty="0">
                          <a:effectLst/>
                        </a:rPr>
                        <a:t> </a:t>
                      </a:r>
                      <a:endParaRPr lang="es-PE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Nunca o Casi Nunca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veces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Con bastante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frecuencia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Siempre o casi siempre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puntos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821787"/>
              </p:ext>
            </p:extLst>
          </p:nvPr>
        </p:nvGraphicFramePr>
        <p:xfrm>
          <a:off x="467544" y="1700808"/>
          <a:ext cx="8352927" cy="3528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4"/>
                <a:gridCol w="3851763"/>
                <a:gridCol w="819662"/>
                <a:gridCol w="820592"/>
                <a:gridCol w="819662"/>
                <a:gridCol w="820592"/>
                <a:gridCol w="820592"/>
              </a:tblGrid>
              <a:tr h="10166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9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Me late el corazón más a prisa que de costumbre.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7475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10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Me canso sin motivo.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7475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11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Tengo la mente tan clara como antes.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10166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12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Hago las cosas con la misma facilidad que antes.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65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739565"/>
              </p:ext>
            </p:extLst>
          </p:nvPr>
        </p:nvGraphicFramePr>
        <p:xfrm>
          <a:off x="467544" y="908720"/>
          <a:ext cx="8352927" cy="72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2"/>
                <a:gridCol w="3851759"/>
                <a:gridCol w="819662"/>
                <a:gridCol w="820594"/>
                <a:gridCol w="819662"/>
                <a:gridCol w="820594"/>
                <a:gridCol w="820594"/>
              </a:tblGrid>
              <a:tr h="720080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600" dirty="0">
                          <a:effectLst/>
                        </a:rPr>
                        <a:t> </a:t>
                      </a:r>
                      <a:endParaRPr lang="es-PE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Nunca o Casi Nunca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veces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Con bastante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frecuencia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Siempre o casi siempre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puntos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222947"/>
              </p:ext>
            </p:extLst>
          </p:nvPr>
        </p:nvGraphicFramePr>
        <p:xfrm>
          <a:off x="457200" y="1600200"/>
          <a:ext cx="8363271" cy="3628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560"/>
                <a:gridCol w="3856533"/>
                <a:gridCol w="820677"/>
                <a:gridCol w="821608"/>
                <a:gridCol w="820677"/>
                <a:gridCol w="821608"/>
                <a:gridCol w="821608"/>
              </a:tblGrid>
              <a:tr h="11320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13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Me siento nervioso(a) y no puedo estarme quieto.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8323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14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Tengo esperanza en el futuro.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8323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15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Estoy mas irritable que antes.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8323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16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Me es fácil tomar decisiones.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35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137624"/>
              </p:ext>
            </p:extLst>
          </p:nvPr>
        </p:nvGraphicFramePr>
        <p:xfrm>
          <a:off x="467544" y="908720"/>
          <a:ext cx="8352927" cy="72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2"/>
                <a:gridCol w="3851759"/>
                <a:gridCol w="819662"/>
                <a:gridCol w="820594"/>
                <a:gridCol w="819662"/>
                <a:gridCol w="820594"/>
                <a:gridCol w="820594"/>
              </a:tblGrid>
              <a:tr h="720080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600" dirty="0">
                          <a:effectLst/>
                        </a:rPr>
                        <a:t> </a:t>
                      </a:r>
                      <a:endParaRPr lang="es-PE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Nunca o Casi Nunca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veces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Con bastante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frecuencia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Siempre o casi siempre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puntos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426909"/>
              </p:ext>
            </p:extLst>
          </p:nvPr>
        </p:nvGraphicFramePr>
        <p:xfrm>
          <a:off x="467543" y="1600200"/>
          <a:ext cx="8352927" cy="3628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0216"/>
                <a:gridCol w="3856533"/>
                <a:gridCol w="820677"/>
                <a:gridCol w="821608"/>
                <a:gridCol w="820677"/>
                <a:gridCol w="821608"/>
                <a:gridCol w="821608"/>
              </a:tblGrid>
              <a:tr h="677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17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Me siento útil y necesario.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677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18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Me satisface mi vida actual.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9208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19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Creo que los demás estarían mejor si yo muriera.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677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20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Disfruto de las mismas cosas que antes.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  <a:tr h="677040">
                <a:tc grid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TOTAL DE PUNTOS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5296" marR="35296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95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sz="5400" b="1" dirty="0" smtClean="0"/>
              <a:t>RESPUESTAS</a:t>
            </a:r>
            <a:r>
              <a:rPr lang="es-PE" b="1" dirty="0" smtClean="0"/>
              <a:t> 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Rectángulo redondeado"/>
          <p:cNvSpPr/>
          <p:nvPr/>
        </p:nvSpPr>
        <p:spPr>
          <a:xfrm>
            <a:off x="395536" y="260648"/>
            <a:ext cx="2880321" cy="4320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</a:pPr>
            <a:endParaRPr lang="es-PE" sz="1600" dirty="0" smtClean="0">
              <a:effectLst/>
              <a:latin typeface="Arial"/>
              <a:ea typeface="Calibri"/>
              <a:cs typeface="Times New Roman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s-PE" sz="1600" dirty="0" smtClean="0">
                <a:effectLst/>
                <a:latin typeface="Arial"/>
                <a:ea typeface="Calibri"/>
                <a:cs typeface="Times New Roman"/>
              </a:rPr>
              <a:t>Nunca </a:t>
            </a:r>
            <a:r>
              <a:rPr lang="es-PE" sz="1600" dirty="0">
                <a:effectLst/>
                <a:latin typeface="Arial"/>
                <a:ea typeface="Calibri"/>
                <a:cs typeface="Times New Roman"/>
              </a:rPr>
              <a:t>o casi nunca</a:t>
            </a:r>
            <a:endParaRPr lang="es-PE" sz="1100" dirty="0">
              <a:effectLst/>
              <a:ea typeface="Calibri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s-PE" sz="1100" dirty="0">
                <a:effectLst/>
                <a:ea typeface="Calibri"/>
                <a:cs typeface="Times New Roman"/>
              </a:rPr>
              <a:t> </a:t>
            </a:r>
          </a:p>
        </p:txBody>
      </p:sp>
      <p:sp>
        <p:nvSpPr>
          <p:cNvPr id="5" name="4 Rectángulo redondeado"/>
          <p:cNvSpPr/>
          <p:nvPr/>
        </p:nvSpPr>
        <p:spPr>
          <a:xfrm>
            <a:off x="2402892" y="908720"/>
            <a:ext cx="2085975" cy="457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</a:pPr>
            <a:endParaRPr lang="es-PE" sz="1600" dirty="0" smtClean="0">
              <a:effectLst/>
              <a:latin typeface="Arial"/>
              <a:ea typeface="Calibri"/>
              <a:cs typeface="Times New Roman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s-PE" sz="1600" dirty="0" smtClean="0">
                <a:effectLst/>
                <a:latin typeface="Arial"/>
                <a:ea typeface="Calibri"/>
                <a:cs typeface="Times New Roman"/>
              </a:rPr>
              <a:t>A </a:t>
            </a:r>
            <a:r>
              <a:rPr lang="es-PE" sz="1600" dirty="0">
                <a:effectLst/>
                <a:latin typeface="Arial"/>
                <a:ea typeface="Calibri"/>
                <a:cs typeface="Times New Roman"/>
              </a:rPr>
              <a:t>veces</a:t>
            </a:r>
            <a:endParaRPr lang="es-PE" sz="1100" dirty="0">
              <a:effectLst/>
              <a:ea typeface="Calibri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s-PE" sz="1100" dirty="0">
                <a:effectLst/>
                <a:ea typeface="Calibri"/>
                <a:cs typeface="Times New Roman"/>
              </a:rPr>
              <a:t> </a:t>
            </a:r>
          </a:p>
        </p:txBody>
      </p:sp>
      <p:sp>
        <p:nvSpPr>
          <p:cNvPr id="6" name="3 Rectángulo redondeado"/>
          <p:cNvSpPr/>
          <p:nvPr/>
        </p:nvSpPr>
        <p:spPr>
          <a:xfrm>
            <a:off x="3445879" y="1484784"/>
            <a:ext cx="3648075" cy="5238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</a:pPr>
            <a:endParaRPr lang="es-PE" sz="1600" dirty="0" smtClean="0">
              <a:effectLst/>
              <a:latin typeface="Arial"/>
              <a:ea typeface="Calibri"/>
              <a:cs typeface="Times New Roman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s-PE" sz="1600" dirty="0" smtClean="0">
                <a:effectLst/>
                <a:latin typeface="Arial"/>
                <a:ea typeface="Calibri"/>
                <a:cs typeface="Times New Roman"/>
              </a:rPr>
              <a:t>Con </a:t>
            </a:r>
            <a:r>
              <a:rPr lang="es-PE" sz="1600" dirty="0">
                <a:effectLst/>
                <a:latin typeface="Arial"/>
                <a:ea typeface="Calibri"/>
                <a:cs typeface="Times New Roman"/>
              </a:rPr>
              <a:t>bastante frecuentemente </a:t>
            </a:r>
            <a:endParaRPr lang="es-PE" sz="1100" dirty="0">
              <a:effectLst/>
              <a:ea typeface="Calibri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s-PE" sz="1100" dirty="0">
                <a:effectLst/>
                <a:ea typeface="Calibri"/>
                <a:cs typeface="Times New Roman"/>
              </a:rPr>
              <a:t> </a:t>
            </a:r>
          </a:p>
        </p:txBody>
      </p:sp>
      <p:sp>
        <p:nvSpPr>
          <p:cNvPr id="7" name="3 Rectángulo redondeado"/>
          <p:cNvSpPr/>
          <p:nvPr/>
        </p:nvSpPr>
        <p:spPr>
          <a:xfrm>
            <a:off x="5148063" y="2132856"/>
            <a:ext cx="3648075" cy="5238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</a:pPr>
            <a:endParaRPr lang="es-PE" sz="1600" dirty="0" smtClean="0">
              <a:effectLst/>
              <a:latin typeface="Arial"/>
              <a:ea typeface="Calibri"/>
              <a:cs typeface="Times New Roman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s-PE" sz="1600" dirty="0" smtClean="0">
                <a:effectLst/>
                <a:latin typeface="Arial"/>
                <a:ea typeface="Calibri"/>
                <a:cs typeface="Times New Roman"/>
              </a:rPr>
              <a:t>Con </a:t>
            </a:r>
            <a:r>
              <a:rPr lang="es-PE" sz="1600" dirty="0">
                <a:effectLst/>
                <a:latin typeface="Arial"/>
                <a:ea typeface="Calibri"/>
                <a:cs typeface="Times New Roman"/>
              </a:rPr>
              <a:t>bastante frecuentemente </a:t>
            </a:r>
            <a:endParaRPr lang="es-PE" sz="1100" dirty="0">
              <a:effectLst/>
              <a:ea typeface="Calibri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s-PE" sz="1100" dirty="0">
                <a:effectLst/>
                <a:ea typeface="Calibri"/>
                <a:cs typeface="Times New Roman"/>
              </a:rPr>
              <a:t> </a:t>
            </a:r>
          </a:p>
        </p:txBody>
      </p:sp>
      <p:pic>
        <p:nvPicPr>
          <p:cNvPr id="14338" name="Picture 2" descr="http://wrmmedia.files.wordpress.com/2011/02/test-pap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08" y="2862250"/>
            <a:ext cx="42291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sz="5400" b="1" dirty="0" smtClean="0"/>
              <a:t>INTERPRETACION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3131840" y="5085184"/>
            <a:ext cx="3468761" cy="15841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Total                    </a:t>
            </a:r>
          </a:p>
          <a:p>
            <a:pPr algn="ctr"/>
            <a:r>
              <a:rPr lang="es-PE" dirty="0" smtClean="0"/>
              <a:t>--------------------------------X100</a:t>
            </a:r>
          </a:p>
          <a:p>
            <a:pPr algn="ctr"/>
            <a:r>
              <a:rPr lang="es-PE" dirty="0" smtClean="0"/>
              <a:t>Promedio máximo de 80</a:t>
            </a:r>
            <a:endParaRPr lang="es-PE" dirty="0"/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208825"/>
              </p:ext>
            </p:extLst>
          </p:nvPr>
        </p:nvGraphicFramePr>
        <p:xfrm>
          <a:off x="1763688" y="188640"/>
          <a:ext cx="6122228" cy="4554956"/>
        </p:xfrm>
        <a:graphic>
          <a:graphicData uri="http://schemas.openxmlformats.org/drawingml/2006/table">
            <a:tbl>
              <a:tblPr/>
              <a:tblGrid>
                <a:gridCol w="798132"/>
                <a:gridCol w="732425"/>
                <a:gridCol w="798132"/>
                <a:gridCol w="732425"/>
                <a:gridCol w="798132"/>
                <a:gridCol w="732425"/>
                <a:gridCol w="798132"/>
                <a:gridCol w="732425"/>
              </a:tblGrid>
              <a:tr h="325795">
                <a:tc grid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  <a:effectLst/>
                          <a:latin typeface="Comic Sans MS"/>
                        </a:rPr>
                        <a:t>ÍNDICE DE VALORACIÓN DE DEPRESIÓN</a:t>
                      </a:r>
                      <a:endParaRPr lang="es-PE" sz="1400" b="1" dirty="0">
                        <a:effectLst/>
                        <a:latin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</a:tr>
              <a:tr h="4141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PUNTOS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solidFill>
                            <a:srgbClr val="FFFFFF"/>
                          </a:solidFill>
                          <a:effectLst/>
                          <a:latin typeface="Comic Sans MS"/>
                          <a:ea typeface="Times New Roman"/>
                        </a:rPr>
                        <a:t>ÍNDICE DE EAD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 dirty="0">
                          <a:effectLst/>
                          <a:latin typeface="Comic Sans MS"/>
                          <a:ea typeface="Times New Roman"/>
                        </a:rPr>
                        <a:t>PUNTOS</a:t>
                      </a:r>
                      <a:endParaRPr lang="es-PE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 dirty="0">
                          <a:solidFill>
                            <a:srgbClr val="FFFFFF"/>
                          </a:solidFill>
                          <a:effectLst/>
                          <a:latin typeface="Comic Sans MS"/>
                          <a:ea typeface="Times New Roman"/>
                        </a:rPr>
                        <a:t>ÍNDICE EAD</a:t>
                      </a:r>
                      <a:endParaRPr lang="es-PE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 dirty="0">
                          <a:effectLst/>
                          <a:latin typeface="Comic Sans MS"/>
                          <a:ea typeface="Times New Roman"/>
                        </a:rPr>
                        <a:t>PUNTOS</a:t>
                      </a:r>
                      <a:endParaRPr lang="es-PE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solidFill>
                            <a:srgbClr val="FFFFFF"/>
                          </a:solidFill>
                          <a:effectLst/>
                          <a:latin typeface="Comic Sans MS"/>
                          <a:ea typeface="Times New Roman"/>
                        </a:rPr>
                        <a:t>ÍNDICE EAD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PUNTOS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solidFill>
                            <a:srgbClr val="FFFFFF"/>
                          </a:solidFill>
                          <a:effectLst/>
                          <a:latin typeface="Comic Sans MS"/>
                          <a:ea typeface="Times New Roman"/>
                        </a:rPr>
                        <a:t>INDICE EAD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5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 dirty="0">
                          <a:effectLst/>
                          <a:latin typeface="Comic Sans MS"/>
                          <a:ea typeface="Times New Roman"/>
                        </a:rPr>
                        <a:t>62</a:t>
                      </a:r>
                      <a:endParaRPr lang="es-PE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 dirty="0">
                          <a:effectLst/>
                          <a:latin typeface="Comic Sans MS"/>
                          <a:ea typeface="Times New Roman"/>
                        </a:rPr>
                        <a:t>48</a:t>
                      </a:r>
                      <a:endParaRPr lang="es-PE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 dirty="0">
                          <a:effectLst/>
                          <a:latin typeface="Comic Sans MS"/>
                          <a:ea typeface="Times New Roman"/>
                        </a:rPr>
                        <a:t>60</a:t>
                      </a:r>
                      <a:endParaRPr lang="es-PE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 dirty="0">
                          <a:effectLst/>
                          <a:latin typeface="Comic Sans MS"/>
                          <a:ea typeface="Times New Roman"/>
                        </a:rPr>
                        <a:t>64</a:t>
                      </a:r>
                      <a:endParaRPr lang="es-PE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100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 dirty="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71834"/>
              </p:ext>
            </p:extLst>
          </p:nvPr>
        </p:nvGraphicFramePr>
        <p:xfrm>
          <a:off x="1287780" y="1340768"/>
          <a:ext cx="6596588" cy="3108891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3298294"/>
                <a:gridCol w="3298294"/>
              </a:tblGrid>
              <a:tr h="4830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600" b="1" kern="0" dirty="0">
                          <a:effectLst/>
                          <a:latin typeface="Comic Sans MS"/>
                        </a:rPr>
                        <a:t>INDICE EAD</a:t>
                      </a:r>
                      <a:endParaRPr lang="es-PE" sz="1600" b="1" kern="0" dirty="0">
                        <a:effectLst/>
                        <a:latin typeface="Times New Roman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600" b="1" kern="0" dirty="0">
                          <a:effectLst/>
                          <a:latin typeface="Comic Sans MS"/>
                        </a:rPr>
                        <a:t>INTERPRETACION</a:t>
                      </a:r>
                      <a:endParaRPr lang="es-PE" sz="1600" b="1" kern="0" dirty="0">
                        <a:effectLst/>
                        <a:latin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</a:tr>
              <a:tr h="597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200" b="1" dirty="0">
                          <a:effectLst/>
                          <a:latin typeface="Comic Sans MS"/>
                        </a:rPr>
                        <a:t>MENOS DE 50</a:t>
                      </a:r>
                      <a:endParaRPr lang="es-PE" sz="1200" b="1" dirty="0">
                        <a:effectLst/>
                        <a:latin typeface="Times New Roman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200" b="1" dirty="0">
                          <a:effectLst/>
                          <a:latin typeface="Comic Sans MS"/>
                        </a:rPr>
                        <a:t>DENTRO DE LÍMITES NORMALES</a:t>
                      </a:r>
                      <a:endParaRPr lang="es-PE" sz="1200" b="1" dirty="0">
                        <a:effectLst/>
                        <a:latin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</a:tr>
              <a:tr h="6762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Comic Sans MS"/>
                          <a:ea typeface="Times New Roman"/>
                        </a:rPr>
                        <a:t>50-59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  <a:latin typeface="Comic Sans MS"/>
                          <a:ea typeface="Times New Roman"/>
                        </a:rPr>
                        <a:t>DEPRESIÓN LEVE MODERADA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</a:tr>
              <a:tr h="6762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Comic Sans MS"/>
                          <a:ea typeface="Times New Roman"/>
                        </a:rPr>
                        <a:t>60-69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  <a:latin typeface="Comic Sans MS"/>
                          <a:ea typeface="Times New Roman"/>
                        </a:rPr>
                        <a:t>DEPRESIÓN MODERADA INTENSA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</a:tr>
              <a:tr h="6762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200" b="1">
                          <a:effectLst/>
                          <a:latin typeface="Comic Sans MS"/>
                        </a:rPr>
                        <a:t>70 A MÁS</a:t>
                      </a:r>
                      <a:endParaRPr lang="es-PE" sz="1200" b="1">
                        <a:effectLst/>
                        <a:latin typeface="Times New Roman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  <a:latin typeface="Comic Sans MS"/>
                          <a:ea typeface="Times New Roman"/>
                        </a:rPr>
                        <a:t>DEPRESIÓN INTENSA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PE" dirty="0" smtClean="0"/>
          </a:p>
          <a:p>
            <a:pPr marL="0" indent="0" algn="ctr">
              <a:buNone/>
            </a:pPr>
            <a:endParaRPr lang="es-PE" dirty="0"/>
          </a:p>
          <a:p>
            <a:pPr marL="0" indent="0" algn="ctr">
              <a:buNone/>
            </a:pPr>
            <a:r>
              <a:rPr lang="es-PE" sz="4800" b="1" dirty="0" smtClean="0"/>
              <a:t>Ejercicio de practica </a:t>
            </a:r>
            <a:endParaRPr lang="es-PE" sz="4800" b="1" dirty="0"/>
          </a:p>
        </p:txBody>
      </p:sp>
    </p:spTree>
    <p:extLst>
      <p:ext uri="{BB962C8B-B14F-4D97-AF65-F5344CB8AC3E}">
        <p14:creationId xmlns:p14="http://schemas.microsoft.com/office/powerpoint/2010/main" val="353362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PE" b="1" dirty="0"/>
              <a:t>ESCALA DE AUTOVALORACIÓN  D. </a:t>
            </a:r>
            <a:r>
              <a:rPr lang="es-PE" b="1" dirty="0" smtClean="0"/>
              <a:t>D.</a:t>
            </a:r>
          </a:p>
          <a:p>
            <a:pPr marL="0" indent="0" algn="ctr">
              <a:buNone/>
            </a:pPr>
            <a:r>
              <a:rPr lang="es-ES" b="1" dirty="0" smtClean="0"/>
              <a:t>POR  </a:t>
            </a:r>
            <a:r>
              <a:rPr lang="es-ES" b="1" dirty="0"/>
              <a:t>W. W. K. ZUNG</a:t>
            </a:r>
            <a:endParaRPr lang="es-PE" b="1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r>
              <a:rPr lang="es-PE" dirty="0" smtClean="0"/>
              <a:t>NOMBRES</a:t>
            </a:r>
            <a:r>
              <a:rPr lang="es-PE" dirty="0"/>
              <a:t>:  </a:t>
            </a:r>
            <a:r>
              <a:rPr lang="es-PE" u="sng" dirty="0" smtClean="0"/>
              <a:t>_______________</a:t>
            </a:r>
            <a:r>
              <a:rPr lang="es-PE" dirty="0" smtClean="0"/>
              <a:t>_ </a:t>
            </a:r>
            <a:r>
              <a:rPr lang="es-PE" dirty="0"/>
              <a:t>Edad: </a:t>
            </a:r>
            <a:r>
              <a:rPr lang="es-PE" dirty="0" smtClean="0"/>
              <a:t>_23_ </a:t>
            </a:r>
            <a:r>
              <a:rPr lang="es-PE" dirty="0"/>
              <a:t>Sexo: </a:t>
            </a:r>
            <a:r>
              <a:rPr lang="es-PE" dirty="0" smtClean="0"/>
              <a:t>_M_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3415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679880"/>
              </p:ext>
            </p:extLst>
          </p:nvPr>
        </p:nvGraphicFramePr>
        <p:xfrm>
          <a:off x="755576" y="332656"/>
          <a:ext cx="7776862" cy="6646672"/>
        </p:xfrm>
        <a:graphic>
          <a:graphicData uri="http://schemas.openxmlformats.org/drawingml/2006/table">
            <a:tbl>
              <a:tblPr/>
              <a:tblGrid>
                <a:gridCol w="372471"/>
                <a:gridCol w="3586125"/>
                <a:gridCol w="763133"/>
                <a:gridCol w="764000"/>
                <a:gridCol w="763133"/>
                <a:gridCol w="764000"/>
                <a:gridCol w="764000"/>
              </a:tblGrid>
              <a:tr h="609850">
                <a:tc gridSpan="2"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es-PE" sz="700" dirty="0">
                          <a:effectLst/>
                          <a:latin typeface="Arial"/>
                          <a:ea typeface="Calibri"/>
                          <a:cs typeface="Times New Roman"/>
                        </a:rPr>
                        <a:t> </a:t>
                      </a:r>
                      <a:endParaRPr lang="es-PE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200" b="1" dirty="0">
                          <a:effectLst/>
                          <a:latin typeface="Arial Narrow"/>
                          <a:ea typeface="Calibri"/>
                          <a:cs typeface="Times New Roman"/>
                        </a:rPr>
                        <a:t>Nunca o Casi Nunca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200" b="1" dirty="0">
                          <a:effectLst/>
                          <a:latin typeface="Arial Narrow"/>
                          <a:ea typeface="Calibri"/>
                          <a:cs typeface="Times New Roman"/>
                        </a:rPr>
                        <a:t>A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200" b="1" dirty="0">
                          <a:effectLst/>
                          <a:latin typeface="Arial Narrow"/>
                          <a:ea typeface="Calibri"/>
                          <a:cs typeface="Times New Roman"/>
                        </a:rPr>
                        <a:t>veces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200" b="1" dirty="0">
                          <a:effectLst/>
                          <a:latin typeface="Arial Narrow"/>
                          <a:ea typeface="Calibri"/>
                          <a:cs typeface="Times New Roman"/>
                        </a:rPr>
                        <a:t>Con bastante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200" b="1" dirty="0">
                          <a:effectLst/>
                          <a:latin typeface="Arial Narrow"/>
                          <a:ea typeface="Calibri"/>
                          <a:cs typeface="Times New Roman"/>
                        </a:rPr>
                        <a:t>frecuencia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200" b="1" dirty="0">
                          <a:effectLst/>
                          <a:latin typeface="Arial Narrow"/>
                          <a:ea typeface="Calibri"/>
                          <a:cs typeface="Times New Roman"/>
                        </a:rPr>
                        <a:t>Siempre o casi siempre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200" b="1" dirty="0">
                          <a:effectLst/>
                          <a:latin typeface="Arial Narrow"/>
                          <a:ea typeface="Calibri"/>
                          <a:cs typeface="Times New Roman"/>
                        </a:rPr>
                        <a:t>puntos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Me siento abatido y melancólico.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2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Por las mañanas es cuando me siento mejor.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>
                          <a:effectLst/>
                          <a:latin typeface="Arial Narrow"/>
                          <a:ea typeface="Calibri"/>
                          <a:cs typeface="Arial"/>
                        </a:rPr>
                        <a:t>3</a:t>
                      </a:r>
                      <a:endParaRPr lang="es-PE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Tengo acceso de llanto o ganas de llorar.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4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Duermo mal.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>
                          <a:effectLst/>
                          <a:latin typeface="Arial Narrow"/>
                          <a:ea typeface="Calibri"/>
                          <a:cs typeface="Arial"/>
                        </a:rPr>
                        <a:t>5</a:t>
                      </a:r>
                      <a:endParaRPr lang="es-PE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Tengo tanto apetito como antes.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6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Aún me atraen las personas de sexo opuesto.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>
                          <a:effectLst/>
                          <a:latin typeface="Arial Narrow"/>
                          <a:ea typeface="Calibri"/>
                          <a:cs typeface="Arial"/>
                        </a:rPr>
                        <a:t>7</a:t>
                      </a:r>
                      <a:endParaRPr lang="es-PE" sz="14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Noto que estoy perdiendo peso.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8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Tengo trastornos intestinales y estreñimiento.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9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Me late el corazón más a prisa que de costumbre.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10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Me canso sin motivo.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11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Tengo la mente tan clara como antes.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12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Hago las cosas con la misma facilidad que antes.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13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Me siento nervioso(a) y no puedo estarme quieto.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14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Tengo esperanza en el futuro.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15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Estoy mas irritable que antes.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16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Me es fácil tomar decisiones.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17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Me siento útil y necesario.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18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Me satisface mi vida actual.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19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Creo que los demás estarían mejor si yo muriera.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20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4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Disfruto de las mismas cosas que antes.</a:t>
                      </a:r>
                      <a:endParaRPr lang="es-PE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34">
                <a:tc grid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b="1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TOTAL DE PUNTOS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PE" sz="1600" dirty="0">
                          <a:effectLst/>
                          <a:latin typeface="Arial Narrow"/>
                          <a:ea typeface="Calibri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205" marR="342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919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Resultados 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dirty="0" smtClean="0"/>
              <a:t>Puntuación:</a:t>
            </a:r>
          </a:p>
          <a:p>
            <a:r>
              <a:rPr lang="es-PE" dirty="0" smtClean="0"/>
              <a:t>48</a:t>
            </a:r>
          </a:p>
          <a:p>
            <a:pPr marL="0" indent="0" fontAlgn="ctr">
              <a:buNone/>
            </a:pPr>
            <a:r>
              <a:rPr lang="es-PE" dirty="0" smtClean="0"/>
              <a:t>Índice  Edad:</a:t>
            </a:r>
          </a:p>
          <a:p>
            <a:pPr fontAlgn="ctr"/>
            <a:r>
              <a:rPr lang="es-PE" dirty="0" smtClean="0"/>
              <a:t>60</a:t>
            </a:r>
          </a:p>
          <a:p>
            <a:pPr marL="0" indent="0" fontAlgn="ctr">
              <a:buNone/>
            </a:pPr>
            <a:r>
              <a:rPr lang="es-PE" dirty="0" smtClean="0"/>
              <a:t>Interpretación </a:t>
            </a:r>
          </a:p>
          <a:p>
            <a:pPr fontAlgn="ctr"/>
            <a:r>
              <a:rPr lang="es-PE" dirty="0" smtClean="0"/>
              <a:t>Depresión moderada intensa </a:t>
            </a:r>
          </a:p>
          <a:p>
            <a:pPr marL="0" indent="0" fontAlgn="ctr">
              <a:buNone/>
            </a:pPr>
            <a:r>
              <a:rPr lang="es-PE" dirty="0" smtClean="0"/>
              <a:t> </a:t>
            </a:r>
            <a:endParaRPr lang="es-PE" dirty="0"/>
          </a:p>
          <a:p>
            <a:pPr marL="0" indent="0">
              <a:buNone/>
            </a:pPr>
            <a:endParaRPr lang="es-PE" dirty="0" smtClean="0"/>
          </a:p>
        </p:txBody>
      </p:sp>
      <p:pic>
        <p:nvPicPr>
          <p:cNvPr id="19460" name="Picture 4" descr="https://encrypted-tbn3.gstatic.com/images?q=tbn:ANd9GcRjdWLLxpZeu4LzqVIaSwSSLREBvdhhtj5PqzFQqTGd8GziFphU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485900"/>
            <a:ext cx="28003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4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s-ES" b="1" dirty="0" smtClean="0"/>
              <a:t>DESCRIPCIÓN</a:t>
            </a:r>
            <a:r>
              <a:rPr lang="es-PE" b="1" dirty="0" smtClean="0"/>
              <a:t/>
            </a:r>
            <a:br>
              <a:rPr lang="es-PE" b="1" dirty="0" smtClean="0"/>
            </a:br>
            <a:r>
              <a:rPr lang="es-PE" b="1" dirty="0" smtClean="0"/>
              <a:t>DEL INVENTARIO DE ANSIEDAD DE ZUNG</a:t>
            </a:r>
            <a:endParaRPr lang="es-PE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31640" y="2780928"/>
            <a:ext cx="6656784" cy="3649960"/>
          </a:xfrm>
        </p:spPr>
        <p:txBody>
          <a:bodyPr>
            <a:normAutofit/>
          </a:bodyPr>
          <a:lstStyle/>
          <a:p>
            <a:pPr algn="just"/>
            <a:r>
              <a:rPr lang="es-PE" dirty="0" smtClean="0">
                <a:solidFill>
                  <a:schemeClr val="tx1"/>
                </a:solidFill>
                <a:effectLst/>
              </a:rPr>
              <a:t>La Escala de Autoevaluación de la Ansiedad de Zung, comprende un cuestionario de 20 informes o relatos, cada uno referido a manifestaciones características de ansiedad, como síntomas o signos. </a:t>
            </a:r>
          </a:p>
        </p:txBody>
      </p:sp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2420888"/>
            <a:ext cx="7772400" cy="1470025"/>
          </a:xfrm>
        </p:spPr>
        <p:txBody>
          <a:bodyPr>
            <a:noAutofit/>
          </a:bodyPr>
          <a:lstStyle/>
          <a:p>
            <a:r>
              <a:rPr lang="es-PE" sz="5400" b="1" dirty="0" smtClean="0"/>
              <a:t>FRASES DE LA ESCALA DE ANSIEDAD DEL ZUNG </a:t>
            </a:r>
            <a:endParaRPr lang="es-PE" sz="5400" b="1" dirty="0"/>
          </a:p>
        </p:txBody>
      </p:sp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139717"/>
              </p:ext>
            </p:extLst>
          </p:nvPr>
        </p:nvGraphicFramePr>
        <p:xfrm>
          <a:off x="467544" y="980728"/>
          <a:ext cx="8280920" cy="432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613"/>
                <a:gridCol w="3818555"/>
                <a:gridCol w="812596"/>
                <a:gridCol w="813520"/>
                <a:gridCol w="812596"/>
                <a:gridCol w="813520"/>
                <a:gridCol w="813520"/>
              </a:tblGrid>
              <a:tr h="869333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Nunca o Casi Nunca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veces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Con bastante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frecuencia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Siempre o casi siempre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puntos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7727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Me mas nervioso(a) y ansioso(a) que de costumbre.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3</a:t>
                      </a: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566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Me siento con temor sin razón.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566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Despierto con facilidad o siento pánico.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2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4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7727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4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Me siento como si fuera a reventar y partirme en pedazos.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1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2</a:t>
                      </a: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4</a:t>
                      </a: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7727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5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Siento que todo esta bien y que nada malo puede suceder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4</a:t>
                      </a: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3</a:t>
                      </a: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2</a:t>
                      </a: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 smtClean="0">
                          <a:effectLst/>
                        </a:rPr>
                        <a:t>1</a:t>
                      </a: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68101"/>
              </p:ext>
            </p:extLst>
          </p:nvPr>
        </p:nvGraphicFramePr>
        <p:xfrm>
          <a:off x="467545" y="1484784"/>
          <a:ext cx="8352928" cy="4464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1"/>
                <a:gridCol w="3851761"/>
                <a:gridCol w="819662"/>
                <a:gridCol w="820594"/>
                <a:gridCol w="819662"/>
                <a:gridCol w="820594"/>
                <a:gridCol w="820594"/>
              </a:tblGrid>
              <a:tr h="1288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5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Siento que todo esta bien y que nada malo puede suceder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4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3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2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1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 </a:t>
                      </a:r>
                      <a:endParaRPr lang="es-PE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9442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6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Me tiemblan las manos y las piernas.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1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2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3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4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 </a:t>
                      </a:r>
                      <a:endParaRPr lang="es-PE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1288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7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Me mortifican los dolores de la cabeza, cuello o cintura.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1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2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3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4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 </a:t>
                      </a:r>
                      <a:endParaRPr lang="es-PE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9442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8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Me siento débil y me canso fácilmente.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1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2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3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effectLst/>
                        </a:rPr>
                        <a:t>4</a:t>
                      </a: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</a:rPr>
                        <a:t> </a:t>
                      </a:r>
                      <a:endParaRPr lang="es-PE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863107"/>
              </p:ext>
            </p:extLst>
          </p:nvPr>
        </p:nvGraphicFramePr>
        <p:xfrm>
          <a:off x="467544" y="764704"/>
          <a:ext cx="8352927" cy="72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2"/>
                <a:gridCol w="3851759"/>
                <a:gridCol w="819662"/>
                <a:gridCol w="820594"/>
                <a:gridCol w="819662"/>
                <a:gridCol w="820594"/>
                <a:gridCol w="820594"/>
              </a:tblGrid>
              <a:tr h="720080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600" dirty="0">
                          <a:effectLst/>
                        </a:rPr>
                        <a:t> </a:t>
                      </a:r>
                      <a:endParaRPr lang="es-PE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Nunca o Casi Nunca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veces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Con bastante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frecuencia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Siempre o casi siempre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puntos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7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182532"/>
              </p:ext>
            </p:extLst>
          </p:nvPr>
        </p:nvGraphicFramePr>
        <p:xfrm>
          <a:off x="467544" y="1556792"/>
          <a:ext cx="8363271" cy="4205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557"/>
                <a:gridCol w="3856530"/>
                <a:gridCol w="820677"/>
                <a:gridCol w="821610"/>
                <a:gridCol w="820677"/>
                <a:gridCol w="821610"/>
                <a:gridCol w="821610"/>
              </a:tblGrid>
              <a:tr h="11264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9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Me siento tranquilo(a) y puedo permanecer en calma fácilmente.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11264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10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Puedo sentir que me late muy rápido el corazón.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8257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11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Sufro de mareos.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11264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12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Sufro de desmayos o siento que me voy a desmayar.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018703"/>
              </p:ext>
            </p:extLst>
          </p:nvPr>
        </p:nvGraphicFramePr>
        <p:xfrm>
          <a:off x="467544" y="836712"/>
          <a:ext cx="8352927" cy="72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2"/>
                <a:gridCol w="3851759"/>
                <a:gridCol w="819662"/>
                <a:gridCol w="820594"/>
                <a:gridCol w="819662"/>
                <a:gridCol w="820594"/>
                <a:gridCol w="820594"/>
              </a:tblGrid>
              <a:tr h="720080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600" dirty="0">
                          <a:effectLst/>
                        </a:rPr>
                        <a:t> </a:t>
                      </a:r>
                      <a:endParaRPr lang="es-PE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Nunca o Casi Nunca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veces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Con bastante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frecuencia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Siempre o casi siempre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puntos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99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267279"/>
              </p:ext>
            </p:extLst>
          </p:nvPr>
        </p:nvGraphicFramePr>
        <p:xfrm>
          <a:off x="467544" y="1556792"/>
          <a:ext cx="8352928" cy="4464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561"/>
                <a:gridCol w="3856571"/>
                <a:gridCol w="820686"/>
                <a:gridCol w="821619"/>
                <a:gridCol w="820686"/>
                <a:gridCol w="821619"/>
                <a:gridCol w="811186"/>
              </a:tblGrid>
              <a:tr h="9442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13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Puedo inspirar y expirar fácilmente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1288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14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Se me adormecen o me hincan los dedos de las manos y pies.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1288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15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Sufro de molestias estomacales o indigestión.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9442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16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Orino con mucha frecuencia.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292837"/>
              </p:ext>
            </p:extLst>
          </p:nvPr>
        </p:nvGraphicFramePr>
        <p:xfrm>
          <a:off x="467544" y="980728"/>
          <a:ext cx="8352927" cy="72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2"/>
                <a:gridCol w="3851759"/>
                <a:gridCol w="819662"/>
                <a:gridCol w="820594"/>
                <a:gridCol w="819662"/>
                <a:gridCol w="820594"/>
                <a:gridCol w="820594"/>
              </a:tblGrid>
              <a:tr h="720080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600" dirty="0">
                          <a:effectLst/>
                        </a:rPr>
                        <a:t> </a:t>
                      </a:r>
                      <a:endParaRPr lang="es-PE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Nunca o Casi Nunca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veces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Con bastante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frecuencia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Siempre o casi siempre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puntos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54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931557"/>
              </p:ext>
            </p:extLst>
          </p:nvPr>
        </p:nvGraphicFramePr>
        <p:xfrm>
          <a:off x="457200" y="1600200"/>
          <a:ext cx="8363271" cy="3701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557"/>
                <a:gridCol w="3856530"/>
                <a:gridCol w="820677"/>
                <a:gridCol w="821610"/>
                <a:gridCol w="820677"/>
                <a:gridCol w="821610"/>
                <a:gridCol w="821610"/>
              </a:tblGrid>
              <a:tr h="881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17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Generalmente mis manos están sacas y calientes.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6460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18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Siento bochornos.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881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19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Me quedo dormido con facilidad y descanso durante la noche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6460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20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Tengo pesadillas.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1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2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3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4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  <a:tr h="646096">
                <a:tc grid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TOTAL DE PUNTOS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976831"/>
              </p:ext>
            </p:extLst>
          </p:nvPr>
        </p:nvGraphicFramePr>
        <p:xfrm>
          <a:off x="467544" y="908720"/>
          <a:ext cx="8352927" cy="72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62"/>
                <a:gridCol w="3851759"/>
                <a:gridCol w="819662"/>
                <a:gridCol w="820594"/>
                <a:gridCol w="819662"/>
                <a:gridCol w="820594"/>
                <a:gridCol w="820594"/>
              </a:tblGrid>
              <a:tr h="720080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600" dirty="0">
                          <a:effectLst/>
                        </a:rPr>
                        <a:t> </a:t>
                      </a:r>
                      <a:endParaRPr lang="es-PE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Nunca o Casi Nunca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veces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Con bastante</a:t>
                      </a:r>
                      <a:endParaRPr lang="es-PE" sz="18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frecuencia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Siempre o casi siempre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puntos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27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2348880"/>
            <a:ext cx="7772400" cy="1470025"/>
          </a:xfrm>
        </p:spPr>
        <p:txBody>
          <a:bodyPr/>
          <a:lstStyle/>
          <a:p>
            <a:r>
              <a:rPr lang="es-PE" sz="5400" b="1" dirty="0" smtClean="0"/>
              <a:t>RESPUESTAS 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Rectángulo redondeado"/>
          <p:cNvSpPr/>
          <p:nvPr/>
        </p:nvSpPr>
        <p:spPr>
          <a:xfrm>
            <a:off x="395536" y="260648"/>
            <a:ext cx="2880321" cy="4320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</a:pPr>
            <a:endParaRPr lang="es-PE" sz="1600" dirty="0" smtClean="0">
              <a:effectLst/>
              <a:latin typeface="Arial"/>
              <a:ea typeface="Calibri"/>
              <a:cs typeface="Times New Roman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s-PE" sz="1600" dirty="0" smtClean="0">
                <a:effectLst/>
                <a:latin typeface="Arial"/>
                <a:ea typeface="Calibri"/>
                <a:cs typeface="Times New Roman"/>
              </a:rPr>
              <a:t>Nunca </a:t>
            </a:r>
            <a:r>
              <a:rPr lang="es-PE" sz="1600" dirty="0">
                <a:effectLst/>
                <a:latin typeface="Arial"/>
                <a:ea typeface="Calibri"/>
                <a:cs typeface="Times New Roman"/>
              </a:rPr>
              <a:t>o casi nunca</a:t>
            </a:r>
            <a:endParaRPr lang="es-PE" sz="1100" dirty="0">
              <a:effectLst/>
              <a:ea typeface="Calibri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s-PE" sz="1100" dirty="0">
                <a:effectLst/>
                <a:ea typeface="Calibri"/>
                <a:cs typeface="Times New Roman"/>
              </a:rPr>
              <a:t> </a:t>
            </a:r>
          </a:p>
        </p:txBody>
      </p:sp>
      <p:sp>
        <p:nvSpPr>
          <p:cNvPr id="5" name="4 Rectángulo redondeado"/>
          <p:cNvSpPr/>
          <p:nvPr/>
        </p:nvSpPr>
        <p:spPr>
          <a:xfrm>
            <a:off x="2402892" y="908720"/>
            <a:ext cx="2085975" cy="457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</a:pPr>
            <a:endParaRPr lang="es-PE" sz="1600" dirty="0" smtClean="0">
              <a:effectLst/>
              <a:latin typeface="Arial"/>
              <a:ea typeface="Calibri"/>
              <a:cs typeface="Times New Roman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s-PE" sz="1600" dirty="0" smtClean="0">
                <a:effectLst/>
                <a:latin typeface="Arial"/>
                <a:ea typeface="Calibri"/>
                <a:cs typeface="Times New Roman"/>
              </a:rPr>
              <a:t>A </a:t>
            </a:r>
            <a:r>
              <a:rPr lang="es-PE" sz="1600" dirty="0">
                <a:effectLst/>
                <a:latin typeface="Arial"/>
                <a:ea typeface="Calibri"/>
                <a:cs typeface="Times New Roman"/>
              </a:rPr>
              <a:t>veces</a:t>
            </a:r>
            <a:endParaRPr lang="es-PE" sz="1100" dirty="0">
              <a:effectLst/>
              <a:ea typeface="Calibri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s-PE" sz="1100" dirty="0">
                <a:effectLst/>
                <a:ea typeface="Calibri"/>
                <a:cs typeface="Times New Roman"/>
              </a:rPr>
              <a:t> </a:t>
            </a:r>
          </a:p>
        </p:txBody>
      </p:sp>
      <p:sp>
        <p:nvSpPr>
          <p:cNvPr id="6" name="3 Rectángulo redondeado"/>
          <p:cNvSpPr/>
          <p:nvPr/>
        </p:nvSpPr>
        <p:spPr>
          <a:xfrm>
            <a:off x="3445879" y="1484784"/>
            <a:ext cx="3648075" cy="5238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</a:pPr>
            <a:endParaRPr lang="es-PE" sz="1600" dirty="0" smtClean="0">
              <a:effectLst/>
              <a:latin typeface="Arial"/>
              <a:ea typeface="Calibri"/>
              <a:cs typeface="Times New Roman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s-PE" sz="1600" dirty="0" smtClean="0">
                <a:effectLst/>
                <a:latin typeface="Arial"/>
                <a:ea typeface="Calibri"/>
                <a:cs typeface="Times New Roman"/>
              </a:rPr>
              <a:t>Con </a:t>
            </a:r>
            <a:r>
              <a:rPr lang="es-PE" sz="1600" dirty="0">
                <a:effectLst/>
                <a:latin typeface="Arial"/>
                <a:ea typeface="Calibri"/>
                <a:cs typeface="Times New Roman"/>
              </a:rPr>
              <a:t>bastante frecuentemente </a:t>
            </a:r>
            <a:endParaRPr lang="es-PE" sz="1100" dirty="0">
              <a:effectLst/>
              <a:ea typeface="Calibri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s-PE" sz="1100" dirty="0">
                <a:effectLst/>
                <a:ea typeface="Calibri"/>
                <a:cs typeface="Times New Roman"/>
              </a:rPr>
              <a:t> </a:t>
            </a:r>
          </a:p>
        </p:txBody>
      </p:sp>
      <p:sp>
        <p:nvSpPr>
          <p:cNvPr id="7" name="3 Rectángulo redondeado"/>
          <p:cNvSpPr/>
          <p:nvPr/>
        </p:nvSpPr>
        <p:spPr>
          <a:xfrm>
            <a:off x="5148063" y="2132856"/>
            <a:ext cx="3648075" cy="5238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</a:pPr>
            <a:endParaRPr lang="es-PE" sz="1600" dirty="0" smtClean="0">
              <a:effectLst/>
              <a:latin typeface="Arial"/>
              <a:ea typeface="Calibri"/>
              <a:cs typeface="Times New Roman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s-PE" sz="1600" dirty="0" smtClean="0">
                <a:effectLst/>
                <a:latin typeface="Arial"/>
                <a:ea typeface="Calibri"/>
                <a:cs typeface="Times New Roman"/>
              </a:rPr>
              <a:t>Con </a:t>
            </a:r>
            <a:r>
              <a:rPr lang="es-PE" sz="1600" dirty="0">
                <a:effectLst/>
                <a:latin typeface="Arial"/>
                <a:ea typeface="Calibri"/>
                <a:cs typeface="Times New Roman"/>
              </a:rPr>
              <a:t>bastante frecuentemente </a:t>
            </a:r>
            <a:endParaRPr lang="es-PE" sz="1100" dirty="0">
              <a:effectLst/>
              <a:ea typeface="Calibri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s-PE" sz="1100" dirty="0">
                <a:effectLst/>
                <a:ea typeface="Calibri"/>
                <a:cs typeface="Times New Roman"/>
              </a:rPr>
              <a:t> </a:t>
            </a:r>
          </a:p>
        </p:txBody>
      </p:sp>
      <p:pic>
        <p:nvPicPr>
          <p:cNvPr id="8" name="Picture 2" descr="http://wrmmedia.files.wordpress.com/2011/02/test-pap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394793"/>
            <a:ext cx="42291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2348880"/>
            <a:ext cx="7772400" cy="1470025"/>
          </a:xfrm>
        </p:spPr>
        <p:txBody>
          <a:bodyPr>
            <a:normAutofit/>
          </a:bodyPr>
          <a:lstStyle/>
          <a:p>
            <a:r>
              <a:rPr lang="es-PE" sz="5400" b="1" dirty="0" smtClean="0"/>
              <a:t>INTERPRETACION</a:t>
            </a:r>
            <a:endParaRPr lang="es-PE" sz="5400" b="1" dirty="0"/>
          </a:p>
        </p:txBody>
      </p:sp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2915816" y="5085184"/>
            <a:ext cx="3468761" cy="15841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Total                    </a:t>
            </a:r>
          </a:p>
          <a:p>
            <a:pPr algn="ctr"/>
            <a:r>
              <a:rPr lang="es-PE" dirty="0" smtClean="0"/>
              <a:t>--------------------------------X100</a:t>
            </a:r>
          </a:p>
          <a:p>
            <a:pPr algn="ctr"/>
            <a:r>
              <a:rPr lang="es-PE" dirty="0" smtClean="0"/>
              <a:t>Promedio máximo de 80</a:t>
            </a:r>
            <a:endParaRPr lang="es-PE" dirty="0"/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244139"/>
              </p:ext>
            </p:extLst>
          </p:nvPr>
        </p:nvGraphicFramePr>
        <p:xfrm>
          <a:off x="1475656" y="332656"/>
          <a:ext cx="6122228" cy="4525955"/>
        </p:xfrm>
        <a:graphic>
          <a:graphicData uri="http://schemas.openxmlformats.org/drawingml/2006/table">
            <a:tbl>
              <a:tblPr/>
              <a:tblGrid>
                <a:gridCol w="798132"/>
                <a:gridCol w="732425"/>
                <a:gridCol w="798132"/>
                <a:gridCol w="732425"/>
                <a:gridCol w="798132"/>
                <a:gridCol w="732425"/>
                <a:gridCol w="798132"/>
                <a:gridCol w="732425"/>
              </a:tblGrid>
              <a:tr h="253787">
                <a:tc grid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  <a:effectLst/>
                          <a:latin typeface="Comic Sans MS"/>
                        </a:rPr>
                        <a:t>ÍNDICE DE VALORACIÓN DE </a:t>
                      </a:r>
                      <a:r>
                        <a:rPr lang="es-PE" sz="1400" b="1" dirty="0" smtClean="0">
                          <a:solidFill>
                            <a:srgbClr val="FFFFFF"/>
                          </a:solidFill>
                          <a:effectLst/>
                          <a:latin typeface="Comic Sans MS"/>
                        </a:rPr>
                        <a:t>ANSIEDAD</a:t>
                      </a:r>
                      <a:r>
                        <a:rPr lang="es-PE" sz="1400" b="1" baseline="0" dirty="0" smtClean="0">
                          <a:solidFill>
                            <a:srgbClr val="FFFFFF"/>
                          </a:solidFill>
                          <a:effectLst/>
                          <a:latin typeface="Comic Sans MS"/>
                        </a:rPr>
                        <a:t> </a:t>
                      </a:r>
                      <a:endParaRPr lang="es-PE" sz="1400" b="1" dirty="0">
                        <a:effectLst/>
                        <a:latin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</a:tr>
              <a:tr h="4141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PUNTOS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solidFill>
                            <a:srgbClr val="FFFFFF"/>
                          </a:solidFill>
                          <a:effectLst/>
                          <a:latin typeface="Comic Sans MS"/>
                          <a:ea typeface="Times New Roman"/>
                        </a:rPr>
                        <a:t>ÍNDICE DE EAD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PUNTOS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solidFill>
                            <a:srgbClr val="FFFFFF"/>
                          </a:solidFill>
                          <a:effectLst/>
                          <a:latin typeface="Comic Sans MS"/>
                          <a:ea typeface="Times New Roman"/>
                        </a:rPr>
                        <a:t>ÍNDICE EAD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PUNTOS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solidFill>
                            <a:srgbClr val="FFFFFF"/>
                          </a:solidFill>
                          <a:effectLst/>
                          <a:latin typeface="Comic Sans MS"/>
                          <a:ea typeface="Times New Roman"/>
                        </a:rPr>
                        <a:t>ÍNDICE EAD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PUNTOS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solidFill>
                            <a:srgbClr val="FFFFFF"/>
                          </a:solidFill>
                          <a:effectLst/>
                          <a:latin typeface="Comic Sans MS"/>
                          <a:ea typeface="Times New Roman"/>
                        </a:rPr>
                        <a:t>INDICE EAD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29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79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99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32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48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100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49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50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66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83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1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35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44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51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67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84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300" dirty="0">
                          <a:effectLst/>
                          <a:latin typeface="Comic Sans MS"/>
                          <a:ea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2197" marR="4219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74875"/>
              </p:ext>
            </p:extLst>
          </p:nvPr>
        </p:nvGraphicFramePr>
        <p:xfrm>
          <a:off x="1287780" y="1340768"/>
          <a:ext cx="6596588" cy="3108891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3298294"/>
                <a:gridCol w="3298294"/>
              </a:tblGrid>
              <a:tr h="4830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600" b="1" kern="0" dirty="0">
                          <a:effectLst/>
                          <a:latin typeface="Comic Sans MS"/>
                        </a:rPr>
                        <a:t>INDICE EAD</a:t>
                      </a:r>
                      <a:endParaRPr lang="es-PE" sz="1600" b="1" kern="0" dirty="0">
                        <a:effectLst/>
                        <a:latin typeface="Times New Roman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600" b="1" kern="0" dirty="0">
                          <a:effectLst/>
                          <a:latin typeface="Comic Sans MS"/>
                        </a:rPr>
                        <a:t>INTERPRETACION</a:t>
                      </a:r>
                      <a:endParaRPr lang="es-PE" sz="1600" b="1" kern="0" dirty="0">
                        <a:effectLst/>
                        <a:latin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</a:tr>
              <a:tr h="597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200" b="1" dirty="0">
                          <a:effectLst/>
                          <a:latin typeface="Comic Sans MS"/>
                        </a:rPr>
                        <a:t>MENOS DE 50</a:t>
                      </a:r>
                      <a:endParaRPr lang="es-PE" sz="1200" b="1" dirty="0">
                        <a:effectLst/>
                        <a:latin typeface="Times New Roman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200" b="1" dirty="0">
                          <a:effectLst/>
                          <a:latin typeface="Comic Sans MS"/>
                        </a:rPr>
                        <a:t>DENTRO DE LÍMITES NORMALES</a:t>
                      </a:r>
                      <a:endParaRPr lang="es-PE" sz="1200" b="1" dirty="0">
                        <a:effectLst/>
                        <a:latin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</a:tr>
              <a:tr h="6762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Comic Sans MS"/>
                          <a:ea typeface="Times New Roman"/>
                        </a:rPr>
                        <a:t>50-59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  <a:latin typeface="Comic Sans MS"/>
                          <a:ea typeface="Times New Roman"/>
                        </a:rPr>
                        <a:t>DEPRESIÓN LEVE MODERADA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</a:tr>
              <a:tr h="6762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Comic Sans MS"/>
                          <a:ea typeface="Times New Roman"/>
                        </a:rPr>
                        <a:t>60-69</a:t>
                      </a:r>
                      <a:endParaRPr lang="es-PE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  <a:latin typeface="Comic Sans MS"/>
                          <a:ea typeface="Times New Roman"/>
                        </a:rPr>
                        <a:t>DEPRESIÓN MODERADA INTENSA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</a:tr>
              <a:tr h="6762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1200" b="1">
                          <a:effectLst/>
                          <a:latin typeface="Comic Sans MS"/>
                        </a:rPr>
                        <a:t>70 A MÁS</a:t>
                      </a:r>
                      <a:endParaRPr lang="es-PE" sz="1200" b="1">
                        <a:effectLst/>
                        <a:latin typeface="Times New Roman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  <a:latin typeface="Comic Sans MS"/>
                          <a:ea typeface="Times New Roman"/>
                        </a:rPr>
                        <a:t>DEPRESIÓN INTENSA</a:t>
                      </a:r>
                      <a:endParaRPr lang="es-PE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PE" b="1" dirty="0" smtClean="0"/>
          </a:p>
          <a:p>
            <a:pPr marL="0" indent="0" algn="ctr">
              <a:buNone/>
            </a:pPr>
            <a:endParaRPr lang="es-PE" b="1" dirty="0"/>
          </a:p>
          <a:p>
            <a:pPr marL="0" indent="0" algn="ctr">
              <a:buNone/>
            </a:pPr>
            <a:r>
              <a:rPr lang="es-PE" sz="4400" b="1" dirty="0" smtClean="0"/>
              <a:t>Ejercicio </a:t>
            </a:r>
            <a:r>
              <a:rPr lang="es-PE" sz="4400" b="1" dirty="0"/>
              <a:t>de practica 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148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PE" b="1" dirty="0"/>
              <a:t>ESCALA DE AUTOVALORACIÓN  D. D.</a:t>
            </a:r>
          </a:p>
          <a:p>
            <a:pPr marL="0" indent="0" algn="ctr">
              <a:buNone/>
            </a:pPr>
            <a:r>
              <a:rPr lang="es-ES" b="1" dirty="0"/>
              <a:t>POR  W. W. K. ZUNG</a:t>
            </a:r>
            <a:endParaRPr lang="es-PE" b="1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r>
              <a:rPr lang="es-PE" dirty="0"/>
              <a:t>NOMBRES:  </a:t>
            </a:r>
            <a:r>
              <a:rPr lang="es-PE" u="sng" dirty="0"/>
              <a:t>_______________</a:t>
            </a:r>
            <a:r>
              <a:rPr lang="es-PE" dirty="0"/>
              <a:t>_ Edad: _</a:t>
            </a:r>
            <a:r>
              <a:rPr lang="es-PE" dirty="0" smtClean="0"/>
              <a:t>22_ </a:t>
            </a:r>
            <a:r>
              <a:rPr lang="es-PE" dirty="0"/>
              <a:t>Sexo: </a:t>
            </a:r>
            <a:r>
              <a:rPr lang="es-PE" dirty="0" smtClean="0"/>
              <a:t>_F_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9750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752857"/>
              </p:ext>
            </p:extLst>
          </p:nvPr>
        </p:nvGraphicFramePr>
        <p:xfrm>
          <a:off x="611560" y="188640"/>
          <a:ext cx="7992890" cy="6450839"/>
        </p:xfrm>
        <a:graphic>
          <a:graphicData uri="http://schemas.openxmlformats.org/drawingml/2006/table">
            <a:tbl>
              <a:tblPr/>
              <a:tblGrid>
                <a:gridCol w="382819"/>
                <a:gridCol w="3685738"/>
                <a:gridCol w="784332"/>
                <a:gridCol w="785223"/>
                <a:gridCol w="784332"/>
                <a:gridCol w="785223"/>
                <a:gridCol w="785223"/>
              </a:tblGrid>
              <a:tr h="358845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s-ES" sz="6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 </a:t>
                      </a:r>
                      <a:endParaRPr lang="es-PE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</a:rPr>
                        <a:t>Nunca o Casi Nunca</a:t>
                      </a:r>
                      <a:endParaRPr lang="es-PE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</a:rPr>
                        <a:t>A</a:t>
                      </a:r>
                      <a:endParaRPr lang="es-PE" sz="1600" b="1" dirty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</a:rPr>
                        <a:t>veces</a:t>
                      </a:r>
                      <a:endParaRPr lang="es-PE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</a:rPr>
                        <a:t>Con bastante</a:t>
                      </a:r>
                      <a:endParaRPr lang="es-PE" sz="1600" b="1" dirty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</a:rPr>
                        <a:t>frecuencia</a:t>
                      </a:r>
                      <a:endParaRPr lang="es-PE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</a:rPr>
                        <a:t>Siempre o casi siempre</a:t>
                      </a:r>
                      <a:endParaRPr lang="es-PE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</a:rPr>
                        <a:t>puntos</a:t>
                      </a:r>
                      <a:endParaRPr lang="es-PE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Me mas nervioso(a) y ansioso(a) que de costumbre.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2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Me siento con temor sin razón.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3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Despierto con facilidad o siento pánico.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4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Me siento como si fuera a reventar y partirme en pedazos.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5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Siento que todo esta bien y que nada malo puede suceder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6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Me tiemblan las manos y las piernas.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7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Me mortifican los dolores de la cabeza, cuello o cintura.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8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Me siento débil y me canso fácilmente.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9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Me siento tranquilo(a) y puedo permanecer en calma fácilmente.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10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Puedo sentir que me late muy rápido el corazón.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11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Sufro de mareos.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12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Sufro de desmayos o siento que me voy a desmayar.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13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Puedo inspirar y expirar fácilmente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14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Se me adormecen o me hincan los dedos de las manos y pies.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15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Sufro de molestias estomacales o indigestión.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16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Orino con mucha frecuencia.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17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Generalmente mis manos están sacas y calientes.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18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Siento bochornos.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9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19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Me quedo dormido con facilidad y descanso durante la noche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>
                          <a:effectLst/>
                          <a:latin typeface="Arial Narrow"/>
                          <a:ea typeface="Times New Roman"/>
                          <a:cs typeface="Arial"/>
                        </a:rPr>
                        <a:t>20</a:t>
                      </a:r>
                      <a:endParaRPr lang="es-PE" sz="12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Tengo pesadillas.</a:t>
                      </a:r>
                      <a:endParaRPr lang="es-PE" sz="12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x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828">
                <a:tc grid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TOTAL DE PUNTOS</a:t>
                      </a:r>
                      <a:endParaRPr lang="es-PE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Arial Narrow"/>
                          <a:ea typeface="Times New Roman"/>
                          <a:cs typeface="Arial"/>
                        </a:rPr>
                        <a:t> </a:t>
                      </a:r>
                      <a:endParaRPr lang="es-PE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1281" marR="312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08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Resultados 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dirty="0"/>
              <a:t>Puntuación:</a:t>
            </a:r>
          </a:p>
          <a:p>
            <a:r>
              <a:rPr lang="es-PE" dirty="0" smtClean="0"/>
              <a:t>33</a:t>
            </a:r>
            <a:endParaRPr lang="es-PE" dirty="0"/>
          </a:p>
          <a:p>
            <a:pPr marL="0" indent="0" fontAlgn="ctr">
              <a:buNone/>
            </a:pPr>
            <a:r>
              <a:rPr lang="es-PE" dirty="0"/>
              <a:t>Índice  Edad:</a:t>
            </a:r>
          </a:p>
          <a:p>
            <a:pPr fontAlgn="ctr"/>
            <a:r>
              <a:rPr lang="es-PE" dirty="0" smtClean="0"/>
              <a:t>41</a:t>
            </a:r>
            <a:endParaRPr lang="es-PE" dirty="0"/>
          </a:p>
          <a:p>
            <a:pPr marL="0" indent="0" fontAlgn="ctr">
              <a:buNone/>
            </a:pPr>
            <a:r>
              <a:rPr lang="es-PE" dirty="0"/>
              <a:t>Interpretación </a:t>
            </a:r>
          </a:p>
          <a:p>
            <a:pPr fontAlgn="ctr"/>
            <a:r>
              <a:rPr lang="es-PE" dirty="0" smtClean="0"/>
              <a:t>Dentro de limites normales </a:t>
            </a:r>
            <a:endParaRPr lang="es-PE" dirty="0"/>
          </a:p>
          <a:p>
            <a:pPr marL="0" indent="0" fontAlgn="ctr">
              <a:buNone/>
            </a:pPr>
            <a:r>
              <a:rPr lang="es-PE" dirty="0"/>
              <a:t> </a:t>
            </a:r>
          </a:p>
          <a:p>
            <a:endParaRPr lang="es-PE" dirty="0"/>
          </a:p>
        </p:txBody>
      </p:sp>
      <p:pic>
        <p:nvPicPr>
          <p:cNvPr id="20482" name="Picture 2" descr="https://encrypted-tbn3.gstatic.com/images?q=tbn:ANd9GcRjdWLLxpZeu4LzqVIaSwSSLREBvdhhtj5PqzFQqTGd8GziFphU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340768"/>
            <a:ext cx="28003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96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encrypted-tbn1.gstatic.com/images?q=tbn:ANd9GcS5fR7ajmWMYoy585nrJnuVEyBC55nLD3KBSLAWEt_le6ri5qr4x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02" y="1357865"/>
            <a:ext cx="3384376" cy="507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https://encrypted-tbn1.gstatic.com/images?q=tbn:ANd9GcQaYCpqhwXoaJLw4CHupUIC2ePEmGfyTbT4jU0usq1wAkFHWGawH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76672"/>
            <a:ext cx="46672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28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11560" y="40466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s-ES" b="1" dirty="0" smtClean="0"/>
              <a:t>DESCRIPCIÓN</a:t>
            </a:r>
            <a:r>
              <a:rPr lang="es-PE" b="1" dirty="0" smtClean="0"/>
              <a:t/>
            </a:r>
            <a:br>
              <a:rPr lang="es-PE" b="1" dirty="0" smtClean="0"/>
            </a:br>
            <a:r>
              <a:rPr lang="es-PE" b="1" dirty="0" smtClean="0"/>
              <a:t>DEL INVENTARIO DE DEPRESION DE BECK</a:t>
            </a:r>
            <a:endParaRPr lang="es-PE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83568" y="1988840"/>
            <a:ext cx="7992888" cy="4464496"/>
          </a:xfrm>
        </p:spPr>
        <p:txBody>
          <a:bodyPr>
            <a:normAutofit/>
          </a:bodyPr>
          <a:lstStyle/>
          <a:p>
            <a:pPr algn="just"/>
            <a:r>
              <a:rPr lang="es-ES" sz="2800" dirty="0" smtClean="0">
                <a:solidFill>
                  <a:schemeClr val="tx1"/>
                </a:solidFill>
              </a:rPr>
              <a:t>Es un cuestionario auto-aplicado de 21 ítems que evalúa síntomas depresivos. </a:t>
            </a:r>
          </a:p>
          <a:p>
            <a:pPr algn="just"/>
            <a:r>
              <a:rPr lang="es-ES" sz="2800" dirty="0" smtClean="0">
                <a:solidFill>
                  <a:schemeClr val="tx1"/>
                </a:solidFill>
              </a:rPr>
              <a:t>En </a:t>
            </a:r>
            <a:r>
              <a:rPr lang="es-ES" sz="2800" dirty="0">
                <a:solidFill>
                  <a:schemeClr val="tx1"/>
                </a:solidFill>
              </a:rPr>
              <a:t>la versión de 1961 cada </a:t>
            </a:r>
            <a:r>
              <a:rPr lang="es-ES" sz="2800" dirty="0" smtClean="0">
                <a:solidFill>
                  <a:schemeClr val="tx1"/>
                </a:solidFill>
              </a:rPr>
              <a:t>ítem tenia </a:t>
            </a:r>
            <a:r>
              <a:rPr lang="es-ES" sz="2800" dirty="0">
                <a:solidFill>
                  <a:schemeClr val="tx1"/>
                </a:solidFill>
              </a:rPr>
              <a:t>de 4 a 6 </a:t>
            </a:r>
            <a:r>
              <a:rPr lang="es-ES" sz="2400" dirty="0">
                <a:solidFill>
                  <a:schemeClr val="tx1"/>
                </a:solidFill>
              </a:rPr>
              <a:t>opciones</a:t>
            </a:r>
            <a:r>
              <a:rPr lang="es-ES" sz="2800" dirty="0">
                <a:solidFill>
                  <a:schemeClr val="tx1"/>
                </a:solidFill>
              </a:rPr>
              <a:t> de respuesta, ordenadas de menor a mayor gravedad, y así fueron recogidas en la adaptación y validación de Conde y cols. (1975), si bien en una revisión    posterior   introdujeron   varias   modificaciones   importantes   sobre   el cuestionario original, tales como la eliminación completa de 2 </a:t>
            </a:r>
            <a:r>
              <a:rPr lang="es-ES" sz="2800" dirty="0" smtClean="0">
                <a:solidFill>
                  <a:schemeClr val="tx1"/>
                </a:solidFill>
              </a:rPr>
              <a:t>ítems </a:t>
            </a:r>
            <a:r>
              <a:rPr lang="es-ES" sz="2800" dirty="0">
                <a:solidFill>
                  <a:schemeClr val="tx1"/>
                </a:solidFill>
              </a:rPr>
              <a:t>(sentimientos de culpa y autoimagen) </a:t>
            </a:r>
            <a:endParaRPr lang="es-PE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2420888"/>
            <a:ext cx="8291264" cy="30529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El </a:t>
            </a:r>
            <a:r>
              <a:rPr lang="es-ES" dirty="0" smtClean="0"/>
              <a:t>evaluado </a:t>
            </a:r>
            <a:r>
              <a:rPr lang="es-ES" dirty="0"/>
              <a:t>tiene que seleccionar, para cada </a:t>
            </a:r>
            <a:r>
              <a:rPr lang="es-ES" dirty="0" smtClean="0"/>
              <a:t>ítem,  </a:t>
            </a:r>
            <a:r>
              <a:rPr lang="es-ES" dirty="0"/>
              <a:t>la alternativa de respuesta que mejor refleje su situación durante el momento actual y la última semana.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7182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2636912"/>
            <a:ext cx="7772400" cy="1470025"/>
          </a:xfrm>
        </p:spPr>
        <p:txBody>
          <a:bodyPr>
            <a:noAutofit/>
          </a:bodyPr>
          <a:lstStyle/>
          <a:p>
            <a:r>
              <a:rPr lang="es-PE" sz="5400" b="1" dirty="0" smtClean="0"/>
              <a:t>FRASES DEL INVENTARIO DE DEPRESION DE BECK</a:t>
            </a:r>
            <a:endParaRPr lang="es-PE" sz="5400" b="1" dirty="0"/>
          </a:p>
        </p:txBody>
      </p:sp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260648"/>
            <a:ext cx="5328592" cy="3744416"/>
          </a:xfrm>
        </p:spPr>
        <p:txBody>
          <a:bodyPr>
            <a:noAutofit/>
          </a:bodyPr>
          <a:lstStyle/>
          <a:p>
            <a:pPr algn="l"/>
            <a:r>
              <a:rPr lang="es-PE" sz="1600" b="1" dirty="0" smtClean="0">
                <a:solidFill>
                  <a:schemeClr val="tx1"/>
                </a:solidFill>
              </a:rPr>
              <a:t>1. Tristeza.</a:t>
            </a:r>
            <a:endParaRPr lang="es-PE" sz="1600" dirty="0" smtClean="0">
              <a:solidFill>
                <a:schemeClr val="tx1"/>
              </a:solidFill>
            </a:endParaRPr>
          </a:p>
          <a:p>
            <a:pPr algn="just"/>
            <a:r>
              <a:rPr lang="es-PE" sz="1600" dirty="0" smtClean="0">
                <a:solidFill>
                  <a:schemeClr val="tx1"/>
                </a:solidFill>
              </a:rPr>
              <a:t>0. No me siento triste.</a:t>
            </a:r>
          </a:p>
          <a:p>
            <a:pPr algn="just"/>
            <a:r>
              <a:rPr lang="es-PE" sz="1600" dirty="0" smtClean="0">
                <a:solidFill>
                  <a:schemeClr val="tx1"/>
                </a:solidFill>
              </a:rPr>
              <a:t>1. Me siento triste.</a:t>
            </a:r>
          </a:p>
          <a:p>
            <a:pPr algn="just"/>
            <a:r>
              <a:rPr lang="es-PE" sz="1600" dirty="0" smtClean="0">
                <a:solidFill>
                  <a:schemeClr val="tx1"/>
                </a:solidFill>
              </a:rPr>
              <a:t>2. Me siento triste continuamente y no puedo dejar de estarlo.</a:t>
            </a:r>
          </a:p>
          <a:p>
            <a:pPr algn="just"/>
            <a:r>
              <a:rPr lang="es-PE" sz="1600" dirty="0" smtClean="0">
                <a:solidFill>
                  <a:schemeClr val="tx1"/>
                </a:solidFill>
              </a:rPr>
              <a:t>3. Me siento tan triste o desgraciado que no puedo soportarlo.</a:t>
            </a:r>
          </a:p>
          <a:p>
            <a:pPr algn="just"/>
            <a:endParaRPr lang="es-PE" sz="1600" dirty="0" smtClean="0">
              <a:solidFill>
                <a:schemeClr val="tx1"/>
              </a:solidFill>
            </a:endParaRPr>
          </a:p>
          <a:p>
            <a:pPr algn="l"/>
            <a:r>
              <a:rPr lang="es-PE" sz="1600" b="1" dirty="0" smtClean="0">
                <a:solidFill>
                  <a:schemeClr val="tx1"/>
                </a:solidFill>
              </a:rPr>
              <a:t>2. Pesimismo</a:t>
            </a:r>
            <a:endParaRPr lang="es-PE" sz="1600" dirty="0" smtClean="0">
              <a:solidFill>
                <a:schemeClr val="tx1"/>
              </a:solidFill>
            </a:endParaRPr>
          </a:p>
          <a:p>
            <a:pPr algn="just"/>
            <a:r>
              <a:rPr lang="es-PE" sz="1600" dirty="0" smtClean="0">
                <a:solidFill>
                  <a:schemeClr val="tx1"/>
                </a:solidFill>
              </a:rPr>
              <a:t>0. No me siento especialmente desanimado de cara al futuro.</a:t>
            </a:r>
          </a:p>
          <a:p>
            <a:pPr algn="just"/>
            <a:r>
              <a:rPr lang="es-PE" sz="1600" dirty="0" smtClean="0">
                <a:solidFill>
                  <a:schemeClr val="tx1"/>
                </a:solidFill>
              </a:rPr>
              <a:t>1. Me siento desanimado de cara al futuro.</a:t>
            </a:r>
          </a:p>
          <a:p>
            <a:pPr algn="just"/>
            <a:r>
              <a:rPr lang="es-PE" sz="1600" dirty="0" smtClean="0">
                <a:solidFill>
                  <a:schemeClr val="tx1"/>
                </a:solidFill>
              </a:rPr>
              <a:t>2. siento que no hay nada por lo que luchar.</a:t>
            </a:r>
          </a:p>
          <a:p>
            <a:pPr algn="just"/>
            <a:r>
              <a:rPr lang="es-PE" sz="1600" dirty="0" smtClean="0">
                <a:solidFill>
                  <a:schemeClr val="tx1"/>
                </a:solidFill>
              </a:rPr>
              <a:t>3. El futuro es desesperanzador y las cosas no mejorarán.</a:t>
            </a:r>
          </a:p>
          <a:p>
            <a:endParaRPr lang="es-PE" sz="1600" dirty="0"/>
          </a:p>
        </p:txBody>
      </p:sp>
      <p:pic>
        <p:nvPicPr>
          <p:cNvPr id="1026" name="Picture 2" descr="https://encrypted-tbn1.gstatic.com/images?q=tbn:ANd9GcTV45Xw3x6Eyi6gpoWejbmudoW1gmJfd3gdevtdorBwL-CHO1x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365104"/>
            <a:ext cx="3024336" cy="22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encrypted-tbn1.gstatic.com/images?q=tbn:ANd9GcR2rSSj1OUuRLxejVAw4kC3AT0E494QXqlgif-X0FIds3vLysYEaQ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238" y="116632"/>
            <a:ext cx="314325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539552" y="404664"/>
            <a:ext cx="50943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b="1" dirty="0"/>
              <a:t>3. Sensación de fracaso</a:t>
            </a:r>
            <a:endParaRPr lang="es-PE" dirty="0"/>
          </a:p>
          <a:p>
            <a:pPr algn="just"/>
            <a:r>
              <a:rPr lang="es-PE" dirty="0" smtClean="0"/>
              <a:t>0</a:t>
            </a:r>
            <a:r>
              <a:rPr lang="es-PE" dirty="0"/>
              <a:t>. No me siento fracasado.</a:t>
            </a:r>
          </a:p>
          <a:p>
            <a:pPr algn="just"/>
            <a:r>
              <a:rPr lang="es-PE" dirty="0"/>
              <a:t>1. he fracasado más que la mayoría de las personas.</a:t>
            </a:r>
          </a:p>
          <a:p>
            <a:pPr algn="just"/>
            <a:r>
              <a:rPr lang="es-PE" dirty="0"/>
              <a:t>2. Cuando miro hacia atrás lo único que veo es un fracaso tras otro.</a:t>
            </a:r>
          </a:p>
          <a:p>
            <a:pPr algn="just"/>
            <a:r>
              <a:rPr lang="es-PE" dirty="0"/>
              <a:t>3. Soy un fracaso total como persona</a:t>
            </a:r>
            <a:r>
              <a:rPr lang="es-PE" dirty="0" smtClean="0"/>
              <a:t>.</a:t>
            </a:r>
          </a:p>
          <a:p>
            <a:pPr algn="just"/>
            <a:endParaRPr lang="es-PE" dirty="0"/>
          </a:p>
          <a:p>
            <a:r>
              <a:rPr lang="es-PE" b="1" dirty="0"/>
              <a:t>4. Insatisfacción</a:t>
            </a:r>
            <a:endParaRPr lang="es-PE" dirty="0"/>
          </a:p>
          <a:p>
            <a:pPr algn="just"/>
            <a:r>
              <a:rPr lang="es-PE" dirty="0"/>
              <a:t>0. Las cosas me satisfacen tanto como antes.</a:t>
            </a:r>
          </a:p>
          <a:p>
            <a:pPr algn="just"/>
            <a:r>
              <a:rPr lang="es-PE" dirty="0"/>
              <a:t>1. No disfruto de las cosas tanto como antes.</a:t>
            </a:r>
          </a:p>
          <a:p>
            <a:pPr algn="just"/>
            <a:r>
              <a:rPr lang="es-PE" dirty="0"/>
              <a:t>2. Ya no obtengo ninguna satisfacción de las cosas.</a:t>
            </a:r>
          </a:p>
          <a:p>
            <a:pPr algn="just"/>
            <a:r>
              <a:rPr lang="es-PE" dirty="0"/>
              <a:t>3. Estoy insatisfecho o aburrido con respecto a todo.</a:t>
            </a:r>
          </a:p>
        </p:txBody>
      </p:sp>
      <p:pic>
        <p:nvPicPr>
          <p:cNvPr id="2050" name="Picture 2" descr="https://encrypted-tbn0.gstatic.com/images?q=tbn:ANd9GcTSqHvbxDpItfcGo5ADpCrkJZUSXo1EbtdnwnpQDtZG9y3Il2X31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04664"/>
            <a:ext cx="2714625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encrypted-tbn2.gstatic.com/images?q=tbn:ANd9GcRcuTZv_568BRzc2nTkXolkmGHb6XBQEUjKP7OQ5ZmMbCm2MCoLs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25" y="3861048"/>
            <a:ext cx="361950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97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283968" y="332656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b="1" dirty="0"/>
              <a:t>5. Culpa</a:t>
            </a:r>
            <a:endParaRPr lang="es-PE" dirty="0"/>
          </a:p>
          <a:p>
            <a:pPr algn="just"/>
            <a:r>
              <a:rPr lang="es-PE" dirty="0"/>
              <a:t>0. No me siento especialmente culpable.</a:t>
            </a:r>
          </a:p>
          <a:p>
            <a:pPr algn="just"/>
            <a:r>
              <a:rPr lang="es-PE" dirty="0"/>
              <a:t>1. Me siento culpable en bastantes ocasiones.</a:t>
            </a:r>
          </a:p>
          <a:p>
            <a:pPr algn="just"/>
            <a:r>
              <a:rPr lang="es-PE" dirty="0"/>
              <a:t>2. Me siento culpable en la mayoría de las ocasiones.</a:t>
            </a:r>
          </a:p>
          <a:p>
            <a:pPr algn="just"/>
            <a:r>
              <a:rPr lang="es-PE" dirty="0"/>
              <a:t>3. Me siento culpable </a:t>
            </a:r>
            <a:r>
              <a:rPr lang="es-PE" dirty="0" smtClean="0"/>
              <a:t>constantemente</a:t>
            </a:r>
          </a:p>
          <a:p>
            <a:pPr algn="just"/>
            <a:endParaRPr lang="es-PE" dirty="0" smtClean="0"/>
          </a:p>
          <a:p>
            <a:r>
              <a:rPr lang="es-PE" b="1" dirty="0"/>
              <a:t>6. Expectativas de castigo</a:t>
            </a:r>
            <a:endParaRPr lang="es-PE" dirty="0"/>
          </a:p>
          <a:p>
            <a:pPr algn="just"/>
            <a:r>
              <a:rPr lang="es-PE" dirty="0"/>
              <a:t>0. No creo que esté siendo castigado.</a:t>
            </a:r>
          </a:p>
          <a:p>
            <a:pPr algn="just"/>
            <a:r>
              <a:rPr lang="es-PE" dirty="0"/>
              <a:t>1. siento que quizás esté siendo castigado.</a:t>
            </a:r>
          </a:p>
          <a:p>
            <a:pPr algn="just"/>
            <a:r>
              <a:rPr lang="es-PE" dirty="0"/>
              <a:t>2. Espero ser castigado.</a:t>
            </a:r>
          </a:p>
          <a:p>
            <a:pPr algn="just"/>
            <a:r>
              <a:rPr lang="es-PE" dirty="0"/>
              <a:t>3. Siento que estoy siendo castigado.</a:t>
            </a:r>
          </a:p>
        </p:txBody>
      </p:sp>
      <p:pic>
        <p:nvPicPr>
          <p:cNvPr id="3074" name="Picture 2" descr="https://encrypted-tbn1.gstatic.com/images?q=tbn:ANd9GcQ510R8pvsgAEJJh5TTfX7KKxiEXBmZNF1UbvbhYMC44vKnPZ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48680"/>
            <a:ext cx="3312368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encrypted-tbn1.gstatic.com/images?q=tbn:ANd9GcQ1GuqZxdgWh4NHMYH-BQvtn9fFSXbLQ-5RTa9ZYSLg6NjgLps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875156"/>
            <a:ext cx="2857500" cy="258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99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23528" y="2492896"/>
            <a:ext cx="5256584" cy="381642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s-PE" b="1" dirty="0" smtClean="0">
                <a:solidFill>
                  <a:schemeClr val="tx1"/>
                </a:solidFill>
              </a:rPr>
              <a:t>7. Auto desprecio</a:t>
            </a:r>
            <a:endParaRPr lang="es-PE" dirty="0" smtClean="0">
              <a:solidFill>
                <a:schemeClr val="tx1"/>
              </a:solidFill>
            </a:endParaRP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0. No estoy descontento de mí mismo.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1. Estoy descontento de mí mismo.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2. Estoy a disgusto conmigo mismo.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3. Me detesto. </a:t>
            </a:r>
          </a:p>
          <a:p>
            <a:pPr algn="just"/>
            <a:endParaRPr lang="es-PE" dirty="0" smtClean="0">
              <a:solidFill>
                <a:schemeClr val="tx1"/>
              </a:solidFill>
            </a:endParaRPr>
          </a:p>
          <a:p>
            <a:pPr algn="l"/>
            <a:r>
              <a:rPr lang="es-PE" b="1" dirty="0" smtClean="0">
                <a:solidFill>
                  <a:schemeClr val="tx1"/>
                </a:solidFill>
              </a:rPr>
              <a:t>8. Autoacusación</a:t>
            </a:r>
            <a:endParaRPr lang="es-PE" dirty="0" smtClean="0">
              <a:solidFill>
                <a:schemeClr val="tx1"/>
              </a:solidFill>
            </a:endParaRP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0. No me considero peor que cualquier otro.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1. me autocritico por mi debilidad o por mis errores.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2. Continuamente me culpo por mis faltas.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3. Me culpo por todo lo malo que sucede. </a:t>
            </a:r>
          </a:p>
        </p:txBody>
      </p:sp>
      <p:pic>
        <p:nvPicPr>
          <p:cNvPr id="4098" name="Picture 2" descr="https://encrypted-tbn0.gstatic.com/images?q=tbn:ANd9GcT2MZQeSmT0LZCV7oka_X6sbZiDZlVsPUEWv0pleb0Wp7Jf_h-uwQ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348880"/>
            <a:ext cx="28956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oratoriaencasa.files.wordpress.com/2012/06/autocritic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60648"/>
            <a:ext cx="2664296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283968" y="2996952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b="1" dirty="0"/>
              <a:t>9. Idea suicidas</a:t>
            </a:r>
            <a:endParaRPr lang="es-PE" dirty="0"/>
          </a:p>
          <a:p>
            <a:pPr algn="just"/>
            <a:r>
              <a:rPr lang="es-PE" dirty="0"/>
              <a:t>0. No tengo ningún pensamiento de suicidio.</a:t>
            </a:r>
          </a:p>
          <a:p>
            <a:pPr algn="just"/>
            <a:r>
              <a:rPr lang="es-PE" dirty="0"/>
              <a:t>1. A veces pienso en suicidarme, pero no lo haré.</a:t>
            </a:r>
          </a:p>
          <a:p>
            <a:pPr algn="just"/>
            <a:r>
              <a:rPr lang="es-PE" dirty="0"/>
              <a:t>2. Desearía poner fin a mi vida.</a:t>
            </a:r>
          </a:p>
          <a:p>
            <a:pPr algn="just"/>
            <a:r>
              <a:rPr lang="es-PE" dirty="0"/>
              <a:t>3. me suicidaría si tuviese oportunidad. </a:t>
            </a:r>
            <a:endParaRPr lang="es-PE" dirty="0" smtClean="0"/>
          </a:p>
          <a:p>
            <a:pPr algn="just"/>
            <a:endParaRPr lang="es-PE" dirty="0"/>
          </a:p>
          <a:p>
            <a:r>
              <a:rPr lang="es-PE" b="1" dirty="0"/>
              <a:t>10. Episodios de llanto</a:t>
            </a:r>
            <a:endParaRPr lang="es-PE" dirty="0"/>
          </a:p>
          <a:p>
            <a:pPr algn="just"/>
            <a:r>
              <a:rPr lang="es-PE" dirty="0"/>
              <a:t>0. No lloro más de lo normal.</a:t>
            </a:r>
          </a:p>
          <a:p>
            <a:pPr algn="just"/>
            <a:r>
              <a:rPr lang="es-PE" dirty="0"/>
              <a:t>1. ahora lloro más que antes.</a:t>
            </a:r>
          </a:p>
          <a:p>
            <a:pPr algn="just"/>
            <a:r>
              <a:rPr lang="es-PE" dirty="0"/>
              <a:t>2. Lloro continuamente.</a:t>
            </a:r>
          </a:p>
          <a:p>
            <a:pPr algn="just"/>
            <a:r>
              <a:rPr lang="es-PE" dirty="0"/>
              <a:t>3. No puedo dejar de llorar aunque me lo proponga. </a:t>
            </a:r>
          </a:p>
        </p:txBody>
      </p:sp>
      <p:pic>
        <p:nvPicPr>
          <p:cNvPr id="5122" name="Picture 2" descr="https://encrypted-tbn0.gstatic.com/images?q=tbn:ANd9GcS6bD3mrV7Vtfz3FJYa-82AwU2MC2E_ao8BTuqLlcUV35nKhIa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27935"/>
            <a:ext cx="3328200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static.informe21.com/cdn/farfuture/SnsYf8ccq_-D4CVI5w_gxcFiHCwO5mRTyjXuKrxCsoU/mtime:1323254029/sites/default/files/imagecache/600x400/images/llorar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21" y="3212976"/>
            <a:ext cx="3812855" cy="2544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45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39552" y="476672"/>
            <a:ext cx="5184576" cy="3744416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s-PE" b="1" dirty="0" smtClean="0">
                <a:solidFill>
                  <a:schemeClr val="tx1"/>
                </a:solidFill>
              </a:rPr>
              <a:t>11. Irritabilidad</a:t>
            </a:r>
            <a:endParaRPr lang="es-PE" dirty="0" smtClean="0">
              <a:solidFill>
                <a:schemeClr val="tx1"/>
              </a:solidFill>
            </a:endParaRP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0. No estoy especialmente irritado.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1. me molesto o irrito más fácilmente que antes.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2. me siento irritado continuamente.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3. Ahora no me irritan en absoluto cosas que antes me molestaban. </a:t>
            </a:r>
          </a:p>
          <a:p>
            <a:pPr algn="just"/>
            <a:endParaRPr lang="es-PE" dirty="0" smtClean="0">
              <a:solidFill>
                <a:schemeClr val="tx1"/>
              </a:solidFill>
            </a:endParaRPr>
          </a:p>
          <a:p>
            <a:pPr algn="l"/>
            <a:r>
              <a:rPr lang="es-PE" b="1" dirty="0" smtClean="0">
                <a:solidFill>
                  <a:schemeClr val="tx1"/>
                </a:solidFill>
              </a:rPr>
              <a:t>12. Retirada social</a:t>
            </a:r>
            <a:endParaRPr lang="es-PE" dirty="0" smtClean="0">
              <a:solidFill>
                <a:schemeClr val="tx1"/>
              </a:solidFill>
            </a:endParaRP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0. No he perdido el interés por los demás.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1. Estoy menos interesado en los demás que antes.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2. He perdido gran parte del interés por los demás.</a:t>
            </a:r>
          </a:p>
          <a:p>
            <a:pPr algn="just"/>
            <a:r>
              <a:rPr lang="es-PE" dirty="0" smtClean="0">
                <a:solidFill>
                  <a:schemeClr val="tx1"/>
                </a:solidFill>
              </a:rPr>
              <a:t>3. he perdido todo interés por los demás.</a:t>
            </a:r>
          </a:p>
        </p:txBody>
      </p:sp>
      <p:pic>
        <p:nvPicPr>
          <p:cNvPr id="6146" name="Picture 2" descr="http://dalay.mx/sites/default/files/dalay_img_irritabilidad.jpg?129472473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933056"/>
            <a:ext cx="5429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1.bp.blogspot.com/-jKNNYG-q4IE/UH9_7wh1YuI/AAAAAAAAADs/NnmlygtLfqY/s1600/aislamiento-social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764704"/>
            <a:ext cx="2930277" cy="225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19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611560" y="404664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b="1" dirty="0"/>
              <a:t>13. Indecisión</a:t>
            </a:r>
            <a:endParaRPr lang="es-PE" dirty="0"/>
          </a:p>
          <a:p>
            <a:pPr algn="just"/>
            <a:r>
              <a:rPr lang="es-PE" dirty="0"/>
              <a:t>0. tomo mis propias decisiones igual que antes.</a:t>
            </a:r>
          </a:p>
          <a:p>
            <a:pPr algn="just"/>
            <a:r>
              <a:rPr lang="es-PE" dirty="0"/>
              <a:t>1. Evito tomar decisiones más que antes.</a:t>
            </a:r>
          </a:p>
          <a:p>
            <a:pPr algn="just"/>
            <a:r>
              <a:rPr lang="es-PE" dirty="0"/>
              <a:t>2. Tomar decisiones me resulta mucho más difícil que antes.</a:t>
            </a:r>
          </a:p>
          <a:p>
            <a:pPr algn="just"/>
            <a:r>
              <a:rPr lang="es-PE" dirty="0"/>
              <a:t>3. Me es imposible tomar decisiones. </a:t>
            </a:r>
            <a:endParaRPr lang="es-PE" dirty="0" smtClean="0"/>
          </a:p>
          <a:p>
            <a:pPr algn="just"/>
            <a:endParaRPr lang="es-PE" dirty="0"/>
          </a:p>
          <a:p>
            <a:r>
              <a:rPr lang="es-PE" b="1" dirty="0"/>
              <a:t>14. Cambios en la imagen corporal.</a:t>
            </a:r>
            <a:endParaRPr lang="es-PE" dirty="0"/>
          </a:p>
          <a:p>
            <a:pPr algn="just"/>
            <a:r>
              <a:rPr lang="es-PE" dirty="0"/>
              <a:t>0. No creo tener peor aspecto que antes</a:t>
            </a:r>
          </a:p>
          <a:p>
            <a:pPr algn="just"/>
            <a:r>
              <a:rPr lang="es-PE" dirty="0"/>
              <a:t>1. Estoy preocupado porque parezco envejecido y poco atractivo.</a:t>
            </a:r>
          </a:p>
          <a:p>
            <a:pPr algn="just"/>
            <a:r>
              <a:rPr lang="es-PE" dirty="0"/>
              <a:t>2. Noto cambios constantes en mi aspecto físico que me hacen parecer poco atractivo.</a:t>
            </a:r>
          </a:p>
          <a:p>
            <a:pPr algn="just"/>
            <a:r>
              <a:rPr lang="es-PE" dirty="0"/>
              <a:t>3. Creo que tengo un aspecto horrible. </a:t>
            </a:r>
          </a:p>
        </p:txBody>
      </p:sp>
      <p:pic>
        <p:nvPicPr>
          <p:cNvPr id="7170" name="Picture 2" descr="https://encrypted-tbn0.gstatic.com/images?q=tbn:ANd9GcRjFx73oObhNgyLja6Hk9IqhaROCcepz_veTTe_Z5-wE_v0QIx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764704"/>
            <a:ext cx="360997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encrypted-tbn0.gstatic.com/images?q=tbn:ANd9GcTJjQBxKY2dc0tLD8g9I1Y5tBshiMbUZcSJ8cekIjseaB58bM5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176" y="4399136"/>
            <a:ext cx="3084904" cy="211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9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139952" y="268078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b="1" dirty="0"/>
              <a:t>15. Enlentecimiento</a:t>
            </a:r>
            <a:endParaRPr lang="es-PE" dirty="0"/>
          </a:p>
          <a:p>
            <a:pPr algn="just"/>
            <a:r>
              <a:rPr lang="es-PE" dirty="0" smtClean="0"/>
              <a:t>0</a:t>
            </a:r>
            <a:r>
              <a:rPr lang="es-PE" dirty="0"/>
              <a:t>. </a:t>
            </a:r>
            <a:r>
              <a:rPr lang="es-PE" dirty="0" smtClean="0"/>
              <a:t>Trabajo igual </a:t>
            </a:r>
            <a:r>
              <a:rPr lang="es-PE" dirty="0"/>
              <a:t>que antes.</a:t>
            </a:r>
          </a:p>
          <a:p>
            <a:pPr algn="just"/>
            <a:r>
              <a:rPr lang="es-PE" dirty="0"/>
              <a:t>1. Me cuesta más esfuerzo de lo habitual comenzar a hacer algo.</a:t>
            </a:r>
          </a:p>
          <a:p>
            <a:pPr algn="just"/>
            <a:r>
              <a:rPr lang="es-PE" dirty="0"/>
              <a:t>2. Tengo que obligarme a mí mismo para hacer algo.</a:t>
            </a:r>
          </a:p>
          <a:p>
            <a:pPr algn="just"/>
            <a:r>
              <a:rPr lang="es-PE" dirty="0"/>
              <a:t>3. Soy incapaz de llevar a cabo ninguna tarea. </a:t>
            </a:r>
            <a:endParaRPr lang="es-PE" dirty="0" smtClean="0"/>
          </a:p>
          <a:p>
            <a:pPr algn="just"/>
            <a:endParaRPr lang="es-PE" dirty="0" smtClean="0"/>
          </a:p>
          <a:p>
            <a:r>
              <a:rPr lang="es-PE" b="1" dirty="0"/>
              <a:t>16. Insomnio</a:t>
            </a:r>
            <a:endParaRPr lang="es-PE" dirty="0"/>
          </a:p>
          <a:p>
            <a:pPr algn="just"/>
            <a:r>
              <a:rPr lang="es-PE" dirty="0"/>
              <a:t>0. Duermo tan bien como siempre.</a:t>
            </a:r>
          </a:p>
          <a:p>
            <a:pPr algn="just"/>
            <a:r>
              <a:rPr lang="es-PE" dirty="0"/>
              <a:t>1. No duermo tan bien como antes.</a:t>
            </a:r>
          </a:p>
          <a:p>
            <a:pPr algn="just"/>
            <a:r>
              <a:rPr lang="es-PE" dirty="0"/>
              <a:t>2. Me despierto una o dos horas antes de lo habitual y ya no puedo volver a dormirme.</a:t>
            </a:r>
          </a:p>
          <a:p>
            <a:pPr algn="just"/>
            <a:r>
              <a:rPr lang="es-PE" dirty="0"/>
              <a:t>3. Me despierto varias horas antes de lo habitual y ya no  puedo volver a dormirme. </a:t>
            </a:r>
          </a:p>
          <a:p>
            <a:pPr algn="just"/>
            <a:endParaRPr lang="es-PE" dirty="0"/>
          </a:p>
        </p:txBody>
      </p:sp>
      <p:pic>
        <p:nvPicPr>
          <p:cNvPr id="8194" name="Picture 2" descr="http://us.123rf.com/400wm/400/400/ancher/ancher1011/ancher101100043/8250287-tortuga-de-juguete-se-sienta-delante-de-netbook-como-concepto-de-trabajo-lent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3600400" cy="240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encrypted-tbn2.gstatic.com/images?q=tbn:ANd9GcSiuLWsM-fuWEYmkXkpka-taoAgIPU6zrIAe1KFU36tlkOXWVL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79" y="3789040"/>
            <a:ext cx="3744416" cy="264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29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32656"/>
            <a:ext cx="4834880" cy="352839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PE" sz="5200" b="1" dirty="0" smtClean="0"/>
              <a:t>17. Fatigabilidad</a:t>
            </a:r>
            <a:endParaRPr lang="es-PE" sz="5200" dirty="0" smtClean="0"/>
          </a:p>
          <a:p>
            <a:pPr marL="0" indent="0" algn="just">
              <a:buNone/>
            </a:pPr>
            <a:r>
              <a:rPr lang="es-PE" sz="5200" dirty="0" smtClean="0"/>
              <a:t>0. No me siento más cansado de lo normal.</a:t>
            </a:r>
          </a:p>
          <a:p>
            <a:pPr marL="0" indent="0" algn="just">
              <a:buNone/>
            </a:pPr>
            <a:r>
              <a:rPr lang="es-PE" sz="5200" dirty="0" smtClean="0"/>
              <a:t>1. Me canso más que antes.</a:t>
            </a:r>
          </a:p>
          <a:p>
            <a:pPr marL="0" indent="0" algn="just">
              <a:buNone/>
            </a:pPr>
            <a:r>
              <a:rPr lang="es-PE" sz="5200" dirty="0" smtClean="0"/>
              <a:t>2. Me canso en cuanto hago cualquier cosa.</a:t>
            </a:r>
          </a:p>
          <a:p>
            <a:pPr marL="0" indent="0" algn="just">
              <a:buNone/>
            </a:pPr>
            <a:r>
              <a:rPr lang="es-PE" sz="5200" dirty="0" smtClean="0"/>
              <a:t>3. Estoy demasiado cansado para hacer nada. </a:t>
            </a:r>
          </a:p>
          <a:p>
            <a:pPr marL="0" indent="0" algn="just">
              <a:buNone/>
            </a:pPr>
            <a:endParaRPr lang="es-PE" sz="5200" dirty="0" smtClean="0"/>
          </a:p>
          <a:p>
            <a:pPr marL="0" indent="0">
              <a:buNone/>
            </a:pPr>
            <a:r>
              <a:rPr lang="es-PE" sz="5200" b="1" dirty="0" smtClean="0"/>
              <a:t>18. Pérdida de apetito</a:t>
            </a:r>
            <a:endParaRPr lang="es-PE" sz="5200" dirty="0" smtClean="0"/>
          </a:p>
          <a:p>
            <a:pPr marL="0" indent="0" algn="just">
              <a:buNone/>
            </a:pPr>
            <a:r>
              <a:rPr lang="es-PE" sz="5200" dirty="0" smtClean="0"/>
              <a:t>0. Mi apetito no ha disminuido.</a:t>
            </a:r>
          </a:p>
          <a:p>
            <a:pPr marL="0" indent="0" algn="just">
              <a:buNone/>
            </a:pPr>
            <a:r>
              <a:rPr lang="es-PE" sz="5200" dirty="0" smtClean="0"/>
              <a:t>1. No tengo tan buen apetito como antes.</a:t>
            </a:r>
          </a:p>
          <a:p>
            <a:pPr marL="0" indent="0" algn="just">
              <a:buNone/>
            </a:pPr>
            <a:r>
              <a:rPr lang="es-PE" sz="5200" dirty="0" smtClean="0"/>
              <a:t>2. Ahora tengo mucho menos apetito.</a:t>
            </a:r>
          </a:p>
          <a:p>
            <a:pPr marL="0" indent="0" algn="just">
              <a:buNone/>
            </a:pPr>
            <a:r>
              <a:rPr lang="es-PE" sz="5200" dirty="0" smtClean="0"/>
              <a:t>3. he perdido completamente el apetito. </a:t>
            </a:r>
          </a:p>
          <a:p>
            <a:endParaRPr lang="es-PE" dirty="0"/>
          </a:p>
        </p:txBody>
      </p:sp>
      <p:pic>
        <p:nvPicPr>
          <p:cNvPr id="9218" name="Picture 2" descr="http://redpacientes.files.wordpress.com/2011/11/fatiga_-estres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04664"/>
            <a:ext cx="26289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servidor-opsu.tach.ula.ve/alum/pd_7/drogas_c/Sitio%20Web%20Drogas/imagenes/no%20apetit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9" y="3238735"/>
            <a:ext cx="2520280" cy="335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35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067944" y="476672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b="1" dirty="0"/>
              <a:t>19. Pérdida de peso</a:t>
            </a:r>
            <a:endParaRPr lang="es-PE" dirty="0"/>
          </a:p>
          <a:p>
            <a:pPr algn="just"/>
            <a:r>
              <a:rPr lang="es-PE" dirty="0"/>
              <a:t>0. No he perdido pedo últimamente.</a:t>
            </a:r>
          </a:p>
          <a:p>
            <a:pPr algn="just"/>
            <a:r>
              <a:rPr lang="es-PE" dirty="0"/>
              <a:t>1. He perdido más de 2 kilos.</a:t>
            </a:r>
          </a:p>
          <a:p>
            <a:pPr algn="just"/>
            <a:r>
              <a:rPr lang="es-PE" dirty="0"/>
              <a:t>2. He perdido más de 4 kilos.</a:t>
            </a:r>
          </a:p>
          <a:p>
            <a:pPr algn="just"/>
            <a:r>
              <a:rPr lang="es-PE" dirty="0"/>
              <a:t>3. He perdido más de 7 kilos. </a:t>
            </a:r>
            <a:endParaRPr lang="es-PE" dirty="0" smtClean="0"/>
          </a:p>
          <a:p>
            <a:pPr algn="just"/>
            <a:endParaRPr lang="es-PE" dirty="0"/>
          </a:p>
          <a:p>
            <a:r>
              <a:rPr lang="es-PE" b="1" dirty="0"/>
              <a:t>20. Preocupaciones somáticas</a:t>
            </a:r>
            <a:endParaRPr lang="es-PE" dirty="0"/>
          </a:p>
          <a:p>
            <a:pPr algn="just"/>
            <a:r>
              <a:rPr lang="es-PE" dirty="0"/>
              <a:t>0. No estoy preocupado por mi salud</a:t>
            </a:r>
          </a:p>
          <a:p>
            <a:pPr algn="just"/>
            <a:r>
              <a:rPr lang="es-PE" dirty="0"/>
              <a:t>1. Me preocupan los problemas físicos como dolores, malestar de estómago, catarros, etc.</a:t>
            </a:r>
          </a:p>
          <a:p>
            <a:pPr algn="just"/>
            <a:r>
              <a:rPr lang="es-PE" dirty="0"/>
              <a:t>2. Me preocupan las enfermedades y me resulta difícil pensar en otras cosas.</a:t>
            </a:r>
          </a:p>
          <a:p>
            <a:pPr algn="just"/>
            <a:r>
              <a:rPr lang="es-PE" dirty="0"/>
              <a:t>3. Estoy tan preocupado por las enfermedades que soy incapaz de pensar en otras cosas. </a:t>
            </a:r>
          </a:p>
        </p:txBody>
      </p:sp>
      <p:pic>
        <p:nvPicPr>
          <p:cNvPr id="14338" name="Picture 2" descr="https://encrypted-tbn0.gstatic.com/images?q=tbn:ANd9GcSHQGHc23F0POPA54Fh1a6RpRPyRlOus-Q3yeFgXPfVLtPNQsIZ3Q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764704"/>
            <a:ext cx="30480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https://encrypted-tbn3.gstatic.com/images?q=tbn:ANd9GcSqfPD5VbgxSr9gmd8lUKc13LYnSVTvnULs37VIkGEcbHzj-xm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322" y="4169991"/>
            <a:ext cx="1900188" cy="243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22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67544" y="620688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b="1" dirty="0"/>
              <a:t>21. Bajo nivel de energía</a:t>
            </a:r>
            <a:endParaRPr lang="es-PE" dirty="0"/>
          </a:p>
          <a:p>
            <a:pPr algn="just"/>
            <a:r>
              <a:rPr lang="es-PE" dirty="0"/>
              <a:t>0. No he observado ningún cambio en </a:t>
            </a:r>
            <a:r>
              <a:rPr lang="es-PE" dirty="0" smtClean="0"/>
              <a:t>mi interés </a:t>
            </a:r>
            <a:r>
              <a:rPr lang="es-PE" dirty="0"/>
              <a:t>por el sexo.</a:t>
            </a:r>
          </a:p>
          <a:p>
            <a:pPr algn="just"/>
            <a:r>
              <a:rPr lang="es-PE" dirty="0"/>
              <a:t>1. La relación sexual me atrae menos que antes.</a:t>
            </a:r>
          </a:p>
          <a:p>
            <a:pPr algn="just"/>
            <a:r>
              <a:rPr lang="es-PE" dirty="0"/>
              <a:t>2. Estoy mucho menos interesado por el sexo que antes.</a:t>
            </a:r>
          </a:p>
          <a:p>
            <a:pPr algn="just"/>
            <a:r>
              <a:rPr lang="es-PE" dirty="0"/>
              <a:t>3. He perdido totalmente el interés sexual.</a:t>
            </a:r>
          </a:p>
        </p:txBody>
      </p:sp>
      <p:pic>
        <p:nvPicPr>
          <p:cNvPr id="15362" name="Picture 2" descr="https://encrypted-tbn0.gstatic.com/images?q=tbn:ANd9GcS06P3_BkGmCKGq5lxHR6LwAraXm2n6s5gnfRgFoklqXkRZq2vdqQ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620688"/>
            <a:ext cx="285750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ttps://encrypted-tbn2.gstatic.com/images?q=tbn:ANd9GcTmySudYM8GZQ6sEupZ4aC-XMGbisABJBHHcbDt_b8_73xNwgnV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356992"/>
            <a:ext cx="381000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8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2636912"/>
            <a:ext cx="8229600" cy="1143000"/>
          </a:xfrm>
        </p:spPr>
        <p:txBody>
          <a:bodyPr/>
          <a:lstStyle/>
          <a:p>
            <a:r>
              <a:rPr lang="es-PE" sz="5400" b="1" dirty="0" smtClean="0"/>
              <a:t>INTERPRETACION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146766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692696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PE" dirty="0" smtClean="0"/>
              <a:t>Una vez completado el cuestionario, se SUMAN los puntos correspondientes a cada una de las 21 preguntas y se obtiene el TOTAL.</a:t>
            </a:r>
          </a:p>
          <a:p>
            <a:pPr algn="just"/>
            <a:r>
              <a:rPr lang="es-PE" dirty="0" smtClean="0"/>
              <a:t>Puesto que la puntuación más alta que se puede obtener en cada una de las preguntas es 3, el total más alto posible de todo el cuestionario será de 63.</a:t>
            </a:r>
          </a:p>
          <a:p>
            <a:pPr algn="just"/>
            <a:r>
              <a:rPr lang="es-PE" dirty="0" smtClean="0"/>
              <a:t>Como la puntuación más baja de cada pregunta es CERO, la puntuación más baja posible, será CERO.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766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27089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PE" dirty="0" smtClean="0"/>
              <a:t>La suma de los puntos te indica si estas en una zona de prevención, como la Anaranjada o Roja.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766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529382"/>
              </p:ext>
            </p:extLst>
          </p:nvPr>
        </p:nvGraphicFramePr>
        <p:xfrm>
          <a:off x="1331639" y="620689"/>
          <a:ext cx="5953128" cy="5888736"/>
        </p:xfrm>
        <a:graphic>
          <a:graphicData uri="http://schemas.openxmlformats.org/drawingml/2006/table">
            <a:tbl>
              <a:tblPr firstRow="1" firstCol="1" bandRow="1"/>
              <a:tblGrid>
                <a:gridCol w="2976564"/>
                <a:gridCol w="2976564"/>
              </a:tblGrid>
              <a:tr h="5520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Puntuación total de la Tabla de 21 puntos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Niveles de Depresión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1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1-10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Estos altibajos son considerados normales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</a:tr>
              <a:tr h="8281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11-16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Leve perturbación del estado de ánimo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8281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17-20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Estados de depresión intermitentes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8281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21-30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Depresión moderada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C0A"/>
                    </a:solidFill>
                  </a:tcPr>
                </a:tc>
              </a:tr>
              <a:tr h="8281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31-40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Depresión grave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8281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Más de 40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Depresión extrema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s-P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251" marR="63251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66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PE" b="1" dirty="0" smtClean="0"/>
          </a:p>
          <a:p>
            <a:pPr marL="0" indent="0" algn="ctr">
              <a:buNone/>
            </a:pPr>
            <a:endParaRPr lang="es-PE" b="1" dirty="0"/>
          </a:p>
          <a:p>
            <a:pPr marL="0" indent="0" algn="ctr">
              <a:buNone/>
            </a:pPr>
            <a:r>
              <a:rPr lang="es-PE" sz="4400" b="1" dirty="0" smtClean="0"/>
              <a:t>Ejercicio </a:t>
            </a:r>
            <a:r>
              <a:rPr lang="es-PE" sz="4400" b="1" dirty="0"/>
              <a:t>de practica 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3159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s-MX" b="1" dirty="0"/>
              <a:t>I.D.BECK</a:t>
            </a:r>
            <a:endParaRPr lang="es-PE" b="1" dirty="0"/>
          </a:p>
          <a:p>
            <a:pPr marL="0" indent="0">
              <a:buNone/>
            </a:pPr>
            <a:r>
              <a:rPr lang="es-PE" b="1" dirty="0"/>
              <a:t> </a:t>
            </a:r>
          </a:p>
          <a:p>
            <a:pPr marL="0" indent="0">
              <a:buNone/>
            </a:pPr>
            <a:r>
              <a:rPr lang="es-MX" b="1" dirty="0"/>
              <a:t> </a:t>
            </a:r>
            <a:endParaRPr lang="es-PE" dirty="0"/>
          </a:p>
          <a:p>
            <a:pPr marL="0" indent="0">
              <a:buNone/>
            </a:pPr>
            <a:r>
              <a:rPr lang="es-MX" dirty="0"/>
              <a:t>Nombre................................................................................................................................... Edad..................... </a:t>
            </a:r>
            <a:r>
              <a:rPr lang="es-MX" dirty="0" smtClean="0"/>
              <a:t>Fecha.....................................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PE" dirty="0"/>
          </a:p>
          <a:p>
            <a:pPr marL="0" indent="0" algn="just">
              <a:buNone/>
            </a:pPr>
            <a:r>
              <a:rPr lang="es-MX" dirty="0" smtClean="0"/>
              <a:t>En </a:t>
            </a:r>
            <a:r>
              <a:rPr lang="es-MX" dirty="0"/>
              <a:t>este cuestionario aparecen varios grupos de afirmaciones. Por favor, lea con atención cada uno de ellos. A continuación, señale cuál de las afirmaciones de cada grupo describe mejor sus sentimientos durante la ÚLTIMA SEMANA, INCLUIDO EL DIA DE HOY. Rodee con un círculo el número que está a la izquierda de la afirmación que haya elegido. Si dentro de un mismo grupo hay más de una afirmación que considere aplicable a su caso, márquela también</a:t>
            </a:r>
            <a:r>
              <a:rPr lang="es-MX" b="1" dirty="0"/>
              <a:t>. </a:t>
            </a:r>
            <a:r>
              <a:rPr lang="es-MX" dirty="0"/>
              <a:t>A</a:t>
            </a:r>
            <a:r>
              <a:rPr lang="es-MX" i="1" dirty="0"/>
              <a:t>segúrese de haber leído </a:t>
            </a:r>
            <a:r>
              <a:rPr lang="es-MX" dirty="0"/>
              <a:t>todas</a:t>
            </a:r>
            <a:r>
              <a:rPr lang="es-MX" i="1" dirty="0"/>
              <a:t> las afirmaciones dentro de cada grupo antes de hacer la elección</a:t>
            </a:r>
            <a:r>
              <a:rPr lang="es-MX" b="1" i="1" dirty="0"/>
              <a:t>.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7543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971600" y="620688"/>
            <a:ext cx="6534472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MX" sz="2200" dirty="0" smtClean="0"/>
              <a:t>1.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MX" sz="2200" b="1" dirty="0" smtClean="0">
                <a:solidFill>
                  <a:srgbClr val="00B050"/>
                </a:solidFill>
              </a:rPr>
              <a:t>Me </a:t>
            </a:r>
            <a:r>
              <a:rPr lang="es-MX" sz="2200" b="1" dirty="0">
                <a:solidFill>
                  <a:srgbClr val="00B050"/>
                </a:solidFill>
              </a:rPr>
              <a:t>siento triste</a:t>
            </a:r>
            <a:r>
              <a:rPr lang="es-MX" sz="2200" dirty="0" smtClean="0">
                <a:solidFill>
                  <a:srgbClr val="00B050"/>
                </a:solidFill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s-PE" sz="2200" dirty="0">
              <a:solidFill>
                <a:srgbClr val="00B050"/>
              </a:solidFill>
            </a:endParaRPr>
          </a:p>
          <a:p>
            <a:r>
              <a:rPr lang="es-MX" sz="2200" dirty="0" smtClean="0"/>
              <a:t>2.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200" b="1" dirty="0" smtClean="0">
                <a:solidFill>
                  <a:srgbClr val="00B050"/>
                </a:solidFill>
              </a:rPr>
              <a:t>Me </a:t>
            </a:r>
            <a:r>
              <a:rPr lang="es-MX" sz="2200" b="1" dirty="0">
                <a:solidFill>
                  <a:srgbClr val="00B050"/>
                </a:solidFill>
              </a:rPr>
              <a:t>siento desanimado de cara al futuro</a:t>
            </a:r>
            <a:r>
              <a:rPr lang="es-MX" sz="2200" dirty="0"/>
              <a:t>.	    </a:t>
            </a:r>
            <a:endParaRPr lang="es-PE" sz="2200" dirty="0"/>
          </a:p>
          <a:p>
            <a:endParaRPr lang="es-MX" sz="2200" dirty="0" smtClean="0"/>
          </a:p>
          <a:p>
            <a:r>
              <a:rPr lang="es-MX" sz="2200" dirty="0" smtClean="0"/>
              <a:t>3</a:t>
            </a:r>
            <a:r>
              <a:rPr lang="es-MX" sz="2200" dirty="0"/>
              <a:t>.	</a:t>
            </a:r>
            <a:endParaRPr lang="es-MX" sz="2200" dirty="0" smtClean="0"/>
          </a:p>
          <a:p>
            <a:pPr marL="342900" indent="-342900">
              <a:buFont typeface="+mj-lt"/>
              <a:buAutoNum type="arabicPeriod"/>
            </a:pPr>
            <a:r>
              <a:rPr lang="es-MX" sz="2200" b="1" dirty="0" smtClean="0">
                <a:solidFill>
                  <a:srgbClr val="00B050"/>
                </a:solidFill>
              </a:rPr>
              <a:t>He </a:t>
            </a:r>
            <a:r>
              <a:rPr lang="es-MX" sz="2200" b="1" dirty="0">
                <a:solidFill>
                  <a:srgbClr val="00B050"/>
                </a:solidFill>
              </a:rPr>
              <a:t>fracasado más que la mayoría de las </a:t>
            </a:r>
            <a:r>
              <a:rPr lang="es-MX" sz="2200" b="1" dirty="0" smtClean="0">
                <a:solidFill>
                  <a:srgbClr val="00B050"/>
                </a:solidFill>
              </a:rPr>
              <a:t>personas.</a:t>
            </a:r>
          </a:p>
          <a:p>
            <a:pPr marL="342900" indent="-342900">
              <a:buFont typeface="+mj-lt"/>
              <a:buAutoNum type="arabicPeriod"/>
            </a:pPr>
            <a:endParaRPr lang="es-MX" sz="2200" b="1" dirty="0">
              <a:solidFill>
                <a:srgbClr val="00B050"/>
              </a:solidFill>
            </a:endParaRPr>
          </a:p>
          <a:p>
            <a:r>
              <a:rPr lang="es-MX" sz="2200" dirty="0"/>
              <a:t>4.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MX" sz="2200" b="1" dirty="0">
                <a:solidFill>
                  <a:srgbClr val="00B050"/>
                </a:solidFill>
              </a:rPr>
              <a:t>No disfruto de las cosas tanto como antes</a:t>
            </a:r>
            <a:r>
              <a:rPr lang="es-MX" sz="2200" b="1" dirty="0" smtClean="0">
                <a:solidFill>
                  <a:srgbClr val="00B050"/>
                </a:solidFill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s-PE" sz="2200" b="1" dirty="0">
              <a:solidFill>
                <a:srgbClr val="00B050"/>
              </a:solidFill>
            </a:endParaRPr>
          </a:p>
          <a:p>
            <a:r>
              <a:rPr lang="es-MX" sz="2200" dirty="0"/>
              <a:t>5.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MX" sz="2200" b="1" dirty="0">
                <a:solidFill>
                  <a:srgbClr val="00B050"/>
                </a:solidFill>
              </a:rPr>
              <a:t>Me siento culpable en bastantes ocasiones</a:t>
            </a:r>
            <a:r>
              <a:rPr lang="es-MX" sz="2200" b="1" dirty="0" smtClean="0">
                <a:solidFill>
                  <a:srgbClr val="00B050"/>
                </a:solidFill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s-MX" sz="2200" b="1" dirty="0" smtClean="0">
              <a:solidFill>
                <a:srgbClr val="00B050"/>
              </a:solidFill>
            </a:endParaRPr>
          </a:p>
          <a:p>
            <a:r>
              <a:rPr lang="es-MX" sz="2200" dirty="0"/>
              <a:t>6</a:t>
            </a:r>
            <a:r>
              <a:rPr lang="es-MX" sz="2200" dirty="0" smtClean="0"/>
              <a:t>.</a:t>
            </a:r>
            <a:endParaRPr lang="es-PE" sz="2200" b="1" dirty="0">
              <a:solidFill>
                <a:srgbClr val="00B050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s-MX" sz="2200" b="1" dirty="0">
                <a:solidFill>
                  <a:srgbClr val="00B050"/>
                </a:solidFill>
              </a:rPr>
              <a:t>Siento que quizá esté siendo castigado.</a:t>
            </a:r>
          </a:p>
          <a:p>
            <a:endParaRPr lang="es-MX" b="1" dirty="0" smtClean="0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s-MX" b="1" dirty="0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s-PE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07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726482" y="260648"/>
            <a:ext cx="7776864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/>
              <a:t>7.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MX" sz="2400" b="1" dirty="0">
                <a:solidFill>
                  <a:srgbClr val="00B050"/>
                </a:solidFill>
              </a:rPr>
              <a:t>Estoy descontento de mí mismo</a:t>
            </a:r>
            <a:r>
              <a:rPr lang="es-MX" sz="2400" b="1" dirty="0" smtClean="0">
                <a:solidFill>
                  <a:srgbClr val="00B050"/>
                </a:solidFill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s-PE" sz="2400" b="1" dirty="0">
              <a:solidFill>
                <a:srgbClr val="00B050"/>
              </a:solidFill>
            </a:endParaRPr>
          </a:p>
          <a:p>
            <a:r>
              <a:rPr lang="es-MX" sz="2400" dirty="0"/>
              <a:t>8.</a:t>
            </a:r>
          </a:p>
          <a:p>
            <a:r>
              <a:rPr lang="es-MX" sz="2400" b="1" dirty="0">
                <a:solidFill>
                  <a:srgbClr val="00B050"/>
                </a:solidFill>
              </a:rPr>
              <a:t>Me autocritico por mi debilidad o por mis </a:t>
            </a:r>
            <a:r>
              <a:rPr lang="es-MX" sz="2400" b="1" dirty="0" smtClean="0">
                <a:solidFill>
                  <a:srgbClr val="00B050"/>
                </a:solidFill>
              </a:rPr>
              <a:t>errores</a:t>
            </a:r>
          </a:p>
          <a:p>
            <a:endParaRPr lang="es-MX" sz="2400" b="1" dirty="0">
              <a:solidFill>
                <a:srgbClr val="00B050"/>
              </a:solidFill>
            </a:endParaRPr>
          </a:p>
          <a:p>
            <a:r>
              <a:rPr lang="es-MX" sz="2400" dirty="0"/>
              <a:t>9.</a:t>
            </a:r>
          </a:p>
          <a:p>
            <a:r>
              <a:rPr lang="es-MX" sz="2400" b="1" dirty="0">
                <a:solidFill>
                  <a:srgbClr val="00B050"/>
                </a:solidFill>
              </a:rPr>
              <a:t>0.   No tengo ningún pensamiento de suicidio</a:t>
            </a:r>
            <a:r>
              <a:rPr lang="es-MX" sz="2400" b="1" dirty="0" smtClean="0">
                <a:solidFill>
                  <a:srgbClr val="00B050"/>
                </a:solidFill>
              </a:rPr>
              <a:t>.</a:t>
            </a:r>
          </a:p>
          <a:p>
            <a:endParaRPr lang="es-MX" sz="2400" b="1" dirty="0">
              <a:solidFill>
                <a:srgbClr val="00B050"/>
              </a:solidFill>
            </a:endParaRPr>
          </a:p>
          <a:p>
            <a:r>
              <a:rPr lang="es-MX" sz="2400" dirty="0"/>
              <a:t>10.</a:t>
            </a:r>
            <a:endParaRPr lang="es-PE" sz="2400" dirty="0"/>
          </a:p>
          <a:p>
            <a:pPr marL="342900" lvl="0" indent="-342900">
              <a:buFont typeface="+mj-lt"/>
              <a:buAutoNum type="arabicPeriod"/>
            </a:pPr>
            <a:r>
              <a:rPr lang="es-MX" sz="2400" b="1" dirty="0">
                <a:solidFill>
                  <a:srgbClr val="00B050"/>
                </a:solidFill>
              </a:rPr>
              <a:t>Ahora lloro más que antes</a:t>
            </a:r>
            <a:r>
              <a:rPr lang="es-MX" sz="2400" b="1" dirty="0" smtClean="0">
                <a:solidFill>
                  <a:srgbClr val="00B050"/>
                </a:solidFill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s-PE" sz="2400" b="1" dirty="0">
              <a:solidFill>
                <a:srgbClr val="00B050"/>
              </a:solidFill>
            </a:endParaRPr>
          </a:p>
          <a:p>
            <a:r>
              <a:rPr lang="es-MX" sz="2400" dirty="0"/>
              <a:t>11.</a:t>
            </a:r>
            <a:endParaRPr lang="es-PE" sz="2400" dirty="0"/>
          </a:p>
          <a:p>
            <a:pPr marL="342900" indent="-342900">
              <a:buFont typeface="+mj-lt"/>
              <a:buAutoNum type="arabicPeriod"/>
            </a:pPr>
            <a:r>
              <a:rPr lang="es-MX" sz="2400" b="1" dirty="0">
                <a:solidFill>
                  <a:srgbClr val="00B050"/>
                </a:solidFill>
              </a:rPr>
              <a:t>Me molesto o irrito más fácilmente que </a:t>
            </a:r>
            <a:r>
              <a:rPr lang="es-MX" sz="2400" b="1" dirty="0" smtClean="0">
                <a:solidFill>
                  <a:srgbClr val="00B050"/>
                </a:solidFill>
              </a:rPr>
              <a:t>antes</a:t>
            </a:r>
          </a:p>
          <a:p>
            <a:pPr marL="342900" indent="-342900">
              <a:buFont typeface="+mj-lt"/>
              <a:buAutoNum type="arabicPeriod"/>
            </a:pPr>
            <a:endParaRPr lang="es-PE" sz="2400" b="1" dirty="0">
              <a:solidFill>
                <a:srgbClr val="00B050"/>
              </a:solidFill>
            </a:endParaRPr>
          </a:p>
          <a:p>
            <a:r>
              <a:rPr lang="es-MX" sz="2400" dirty="0"/>
              <a:t>12</a:t>
            </a:r>
            <a:endParaRPr lang="es-PE" sz="2400" dirty="0"/>
          </a:p>
          <a:p>
            <a:pPr marL="342900" lvl="0" indent="-342900">
              <a:buFont typeface="+mj-lt"/>
              <a:buAutoNum type="arabicPeriod"/>
            </a:pPr>
            <a:r>
              <a:rPr lang="es-MX" sz="2400" b="1" dirty="0">
                <a:solidFill>
                  <a:srgbClr val="00B050"/>
                </a:solidFill>
              </a:rPr>
              <a:t>Estoy menos interesado en los demás que antes.</a:t>
            </a:r>
            <a:endParaRPr lang="es-PE" sz="2400" b="1" dirty="0">
              <a:solidFill>
                <a:srgbClr val="00B050"/>
              </a:solidFill>
            </a:endParaRPr>
          </a:p>
          <a:p>
            <a:endParaRPr lang="es-PE" b="1" dirty="0">
              <a:solidFill>
                <a:srgbClr val="00B050"/>
              </a:solidFill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2464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548680"/>
            <a:ext cx="8229600" cy="5400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sz="2400" dirty="0"/>
              <a:t>13.	</a:t>
            </a:r>
            <a:endParaRPr lang="es-PE" sz="2400" dirty="0"/>
          </a:p>
          <a:p>
            <a:pPr marL="514350" lvl="0" indent="-514350">
              <a:buFont typeface="+mj-lt"/>
              <a:buAutoNum type="arabicPeriod"/>
            </a:pPr>
            <a:r>
              <a:rPr lang="es-MX" sz="2400" b="1" dirty="0">
                <a:solidFill>
                  <a:srgbClr val="00B050"/>
                </a:solidFill>
              </a:rPr>
              <a:t>Evito tomar decisiones más que antes</a:t>
            </a:r>
            <a:r>
              <a:rPr lang="es-MX" sz="2400" b="1" dirty="0" smtClean="0">
                <a:solidFill>
                  <a:srgbClr val="00B050"/>
                </a:solidFill>
              </a:rPr>
              <a:t>.</a:t>
            </a:r>
          </a:p>
          <a:p>
            <a:pPr marL="514350" lvl="0" indent="-514350">
              <a:buFont typeface="+mj-lt"/>
              <a:buAutoNum type="arabicPeriod"/>
            </a:pPr>
            <a:endParaRPr lang="es-PE" sz="24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s-MX" sz="2400" dirty="0"/>
              <a:t>14</a:t>
            </a:r>
            <a:endParaRPr lang="es-PE" sz="2400" dirty="0"/>
          </a:p>
          <a:p>
            <a:pPr marL="457200" lvl="0" indent="-457200">
              <a:buAutoNum type="arabicPeriod" startAt="2"/>
            </a:pPr>
            <a:r>
              <a:rPr lang="es-MX" sz="2400" b="1" dirty="0" smtClean="0">
                <a:solidFill>
                  <a:srgbClr val="00B050"/>
                </a:solidFill>
              </a:rPr>
              <a:t>Noto </a:t>
            </a:r>
            <a:r>
              <a:rPr lang="es-MX" sz="2400" b="1" dirty="0">
                <a:solidFill>
                  <a:srgbClr val="00B050"/>
                </a:solidFill>
              </a:rPr>
              <a:t>cambios constantes en mi aspecto físico que me hacen parecer poco atractivo</a:t>
            </a:r>
            <a:r>
              <a:rPr lang="es-MX" sz="2400" b="1" dirty="0" smtClean="0">
                <a:solidFill>
                  <a:srgbClr val="00B050"/>
                </a:solidFill>
              </a:rPr>
              <a:t>.</a:t>
            </a:r>
          </a:p>
          <a:p>
            <a:pPr marL="457200" lvl="0" indent="-457200">
              <a:buAutoNum type="arabicPeriod" startAt="2"/>
            </a:pPr>
            <a:endParaRPr lang="es-PE" sz="24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s-MX" sz="2400" dirty="0"/>
              <a:t>15.</a:t>
            </a:r>
            <a:endParaRPr lang="es-PE" sz="2400" dirty="0"/>
          </a:p>
          <a:p>
            <a:pPr marL="514350" lvl="0" indent="-514350">
              <a:buFont typeface="+mj-lt"/>
              <a:buAutoNum type="arabicPeriod"/>
            </a:pPr>
            <a:r>
              <a:rPr lang="es-MX" sz="2400" b="1" dirty="0">
                <a:solidFill>
                  <a:srgbClr val="00B050"/>
                </a:solidFill>
              </a:rPr>
              <a:t>Me cuesta más esfuerzo de lo habitual comenzar a hacer algo</a:t>
            </a:r>
            <a:r>
              <a:rPr lang="es-MX" sz="2400" b="1" dirty="0" smtClean="0">
                <a:solidFill>
                  <a:srgbClr val="00B050"/>
                </a:solidFill>
              </a:rPr>
              <a:t>.</a:t>
            </a:r>
          </a:p>
          <a:p>
            <a:pPr marL="514350" lvl="0" indent="-514350">
              <a:buFont typeface="+mj-lt"/>
              <a:buAutoNum type="arabicPeriod"/>
            </a:pPr>
            <a:endParaRPr lang="es-PE" sz="24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s-MX" sz="2400" dirty="0" smtClean="0"/>
              <a:t>16</a:t>
            </a:r>
            <a:r>
              <a:rPr lang="es-MX" sz="2400" dirty="0"/>
              <a:t>.</a:t>
            </a:r>
            <a:endParaRPr lang="es-PE" sz="2400" dirty="0"/>
          </a:p>
          <a:p>
            <a:pPr marL="514350" lvl="0" indent="-514350">
              <a:buFont typeface="+mj-lt"/>
              <a:buAutoNum type="arabicPeriod"/>
            </a:pPr>
            <a:r>
              <a:rPr lang="es-MX" sz="2400" b="1" dirty="0">
                <a:solidFill>
                  <a:srgbClr val="00B050"/>
                </a:solidFill>
              </a:rPr>
              <a:t>No duermo tan bien  como antes</a:t>
            </a:r>
            <a:r>
              <a:rPr lang="es-MX" sz="2400" b="1" dirty="0" smtClean="0">
                <a:solidFill>
                  <a:srgbClr val="00B050"/>
                </a:solidFill>
              </a:rPr>
              <a:t>.</a:t>
            </a:r>
          </a:p>
          <a:p>
            <a:pPr marL="514350" lvl="0" indent="-514350">
              <a:buFont typeface="+mj-lt"/>
              <a:buAutoNum type="arabicPeriod"/>
            </a:pPr>
            <a:endParaRPr lang="es-PE" sz="24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s-MX" sz="2400" dirty="0" smtClean="0"/>
              <a:t>17</a:t>
            </a:r>
            <a:r>
              <a:rPr lang="es-MX" sz="2400" dirty="0"/>
              <a:t>.       </a:t>
            </a:r>
            <a:endParaRPr lang="es-PE" sz="2400" dirty="0"/>
          </a:p>
          <a:p>
            <a:pPr marL="514350" lvl="0" indent="-514350">
              <a:buFont typeface="+mj-lt"/>
              <a:buAutoNum type="arabicPeriod"/>
            </a:pPr>
            <a:r>
              <a:rPr lang="es-MX" sz="2400" b="1" dirty="0">
                <a:solidFill>
                  <a:srgbClr val="00B050"/>
                </a:solidFill>
              </a:rPr>
              <a:t>Me canso más que antes.</a:t>
            </a:r>
            <a:endParaRPr lang="es-PE" sz="2400" b="1" dirty="0">
              <a:solidFill>
                <a:srgbClr val="00B050"/>
              </a:solidFill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9446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764704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200" dirty="0"/>
              <a:t>18</a:t>
            </a:r>
            <a:endParaRPr lang="es-PE" sz="2200" dirty="0"/>
          </a:p>
          <a:p>
            <a:pPr marL="457200" lvl="0" indent="-457200">
              <a:buAutoNum type="arabicPeriod" startAt="2"/>
            </a:pPr>
            <a:r>
              <a:rPr lang="es-MX" sz="2200" b="1" dirty="0" smtClean="0">
                <a:solidFill>
                  <a:srgbClr val="00B050"/>
                </a:solidFill>
              </a:rPr>
              <a:t>Ahora </a:t>
            </a:r>
            <a:r>
              <a:rPr lang="es-MX" sz="2200" b="1" dirty="0">
                <a:solidFill>
                  <a:srgbClr val="00B050"/>
                </a:solidFill>
              </a:rPr>
              <a:t>tengo mucho menos apetito</a:t>
            </a:r>
            <a:r>
              <a:rPr lang="es-MX" sz="2200" b="1" dirty="0" smtClean="0">
                <a:solidFill>
                  <a:srgbClr val="00B050"/>
                </a:solidFill>
              </a:rPr>
              <a:t>.</a:t>
            </a:r>
          </a:p>
          <a:p>
            <a:pPr marL="457200" lvl="0" indent="-457200">
              <a:buAutoNum type="arabicPeriod" startAt="2"/>
            </a:pPr>
            <a:endParaRPr lang="es-PE" sz="2200" dirty="0"/>
          </a:p>
          <a:p>
            <a:pPr marL="0" indent="0">
              <a:buNone/>
            </a:pPr>
            <a:r>
              <a:rPr lang="es-MX" sz="2200" dirty="0"/>
              <a:t>19</a:t>
            </a:r>
            <a:endParaRPr lang="es-PE" sz="2200" dirty="0"/>
          </a:p>
          <a:p>
            <a:pPr marL="457200" lvl="0" indent="-457200">
              <a:buAutoNum type="arabicPeriod" startAt="2"/>
            </a:pPr>
            <a:r>
              <a:rPr lang="es-MX" sz="2200" b="1" dirty="0" smtClean="0">
                <a:solidFill>
                  <a:srgbClr val="00B050"/>
                </a:solidFill>
              </a:rPr>
              <a:t>He </a:t>
            </a:r>
            <a:r>
              <a:rPr lang="es-MX" sz="2200" b="1" dirty="0">
                <a:solidFill>
                  <a:srgbClr val="00B050"/>
                </a:solidFill>
              </a:rPr>
              <a:t>perdido más de 4 kilos.	</a:t>
            </a:r>
            <a:endParaRPr lang="es-MX" sz="2200" b="1" dirty="0" smtClean="0">
              <a:solidFill>
                <a:srgbClr val="00B050"/>
              </a:solidFill>
            </a:endParaRPr>
          </a:p>
          <a:p>
            <a:pPr marL="0" lvl="0" indent="0">
              <a:buNone/>
            </a:pPr>
            <a:r>
              <a:rPr lang="es-MX" sz="2200" dirty="0"/>
              <a:t>		</a:t>
            </a:r>
            <a:endParaRPr lang="es-PE" sz="2200" dirty="0"/>
          </a:p>
          <a:p>
            <a:pPr marL="0" indent="0">
              <a:buNone/>
            </a:pPr>
            <a:r>
              <a:rPr lang="es-MX" sz="2200" dirty="0"/>
              <a:t>20</a:t>
            </a:r>
            <a:endParaRPr lang="es-PE" sz="2200" dirty="0"/>
          </a:p>
          <a:p>
            <a:pPr marL="514350" indent="-514350">
              <a:buFont typeface="+mj-lt"/>
              <a:buAutoNum type="arabicPeriod"/>
            </a:pPr>
            <a:r>
              <a:rPr lang="es-MX" sz="2200" b="1" dirty="0" smtClean="0">
                <a:solidFill>
                  <a:srgbClr val="00B050"/>
                </a:solidFill>
              </a:rPr>
              <a:t>Me </a:t>
            </a:r>
            <a:r>
              <a:rPr lang="es-MX" sz="2200" b="1" dirty="0">
                <a:solidFill>
                  <a:srgbClr val="00B050"/>
                </a:solidFill>
              </a:rPr>
              <a:t>preocupan los problemas físicos como dolores, etc.; el malestar de estómago </a:t>
            </a:r>
            <a:r>
              <a:rPr lang="es-MX" sz="2200" b="1" dirty="0" smtClean="0">
                <a:solidFill>
                  <a:srgbClr val="00B050"/>
                </a:solidFill>
              </a:rPr>
              <a:t>o los </a:t>
            </a:r>
            <a:r>
              <a:rPr lang="es-MX" sz="2200" b="1" dirty="0">
                <a:solidFill>
                  <a:srgbClr val="00B050"/>
                </a:solidFill>
              </a:rPr>
              <a:t>catarros</a:t>
            </a:r>
            <a:r>
              <a:rPr lang="es-MX" sz="2200" b="1" dirty="0" smtClean="0">
                <a:solidFill>
                  <a:srgbClr val="00B050"/>
                </a:solidFill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s-PE" sz="2200" dirty="0"/>
          </a:p>
          <a:p>
            <a:pPr marL="0" indent="0">
              <a:buNone/>
            </a:pPr>
            <a:r>
              <a:rPr lang="es-MX" sz="2200" dirty="0"/>
              <a:t>21</a:t>
            </a:r>
            <a:r>
              <a:rPr lang="es-MX" sz="2200" dirty="0" smtClean="0"/>
              <a:t>.</a:t>
            </a:r>
          </a:p>
          <a:p>
            <a:pPr marL="0" indent="0">
              <a:buNone/>
            </a:pPr>
            <a:r>
              <a:rPr lang="es-MX" sz="2200" b="1" dirty="0" smtClean="0">
                <a:solidFill>
                  <a:srgbClr val="00B050"/>
                </a:solidFill>
              </a:rPr>
              <a:t>0   </a:t>
            </a:r>
            <a:r>
              <a:rPr lang="es-MX" sz="2200" b="1" dirty="0">
                <a:solidFill>
                  <a:srgbClr val="00B050"/>
                </a:solidFill>
              </a:rPr>
              <a:t>No he observado ningún cambio en mi interés por el sexo.</a:t>
            </a:r>
            <a:endParaRPr lang="es-PE" sz="2200" b="1" dirty="0">
              <a:solidFill>
                <a:srgbClr val="00B050"/>
              </a:solidFill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8629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Resultados 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dirty="0"/>
              <a:t>Puntuación:</a:t>
            </a:r>
          </a:p>
          <a:p>
            <a:r>
              <a:rPr lang="es-PE" dirty="0" smtClean="0"/>
              <a:t>22</a:t>
            </a:r>
          </a:p>
          <a:p>
            <a:pPr marL="0" indent="0" fontAlgn="ctr">
              <a:buNone/>
            </a:pPr>
            <a:r>
              <a:rPr lang="es-PE" dirty="0" smtClean="0"/>
              <a:t>Interpretación</a:t>
            </a:r>
          </a:p>
          <a:p>
            <a:pPr fontAlgn="ctr"/>
            <a:r>
              <a:rPr lang="es-PE" dirty="0" smtClean="0"/>
              <a:t>Depresión moderada  </a:t>
            </a:r>
          </a:p>
          <a:p>
            <a:endParaRPr lang="es-PE" dirty="0"/>
          </a:p>
        </p:txBody>
      </p:sp>
      <p:pic>
        <p:nvPicPr>
          <p:cNvPr id="4" name="Picture 2" descr="https://encrypted-tbn3.gstatic.com/images?q=tbn:ANd9GcRjdWLLxpZeu4LzqVIaSwSSLREBvdhhtj5PqzFQqTGd8GziFphU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340768"/>
            <a:ext cx="28003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12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60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 Imag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1916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948238" y="2996952"/>
            <a:ext cx="576064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32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Ps. </a:t>
            </a:r>
            <a:r>
              <a:rPr lang="es-PE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Luis Avila Vera</a:t>
            </a:r>
          </a:p>
          <a:p>
            <a:endParaRPr lang="es-PE" sz="32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s-PE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Correo electrónico: </a:t>
            </a:r>
          </a:p>
          <a:p>
            <a:r>
              <a:rPr lang="es-PE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  <a:hlinkClick r:id="rId3"/>
              </a:rPr>
              <a:t>psluisavila@psicologos.com</a:t>
            </a:r>
            <a:endParaRPr lang="es-PE" sz="3200" dirty="0" smtClean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endParaRPr lang="es-PE" dirty="0">
              <a:solidFill>
                <a:srgbClr val="002060"/>
              </a:solidFill>
              <a:latin typeface="Forte" pitchFamily="66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84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3184</Words>
  <Application>Microsoft Office PowerPoint</Application>
  <PresentationFormat>Presentación en pantalla (4:3)</PresentationFormat>
  <Paragraphs>1302</Paragraphs>
  <Slides>73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73</vt:i4>
      </vt:variant>
    </vt:vector>
  </HeadingPairs>
  <TitlesOfParts>
    <vt:vector size="80" baseType="lpstr">
      <vt:lpstr>Arial</vt:lpstr>
      <vt:lpstr>Arial Narrow</vt:lpstr>
      <vt:lpstr>Calibri</vt:lpstr>
      <vt:lpstr>Comic Sans MS</vt:lpstr>
      <vt:lpstr>Forte</vt:lpstr>
      <vt:lpstr>Times New Roman</vt:lpstr>
      <vt:lpstr>Tema de Office</vt:lpstr>
      <vt:lpstr>Escala de Auto-evaluación de Zung de Depresión y Ansiedad / Inventario de depresión de Beck </vt:lpstr>
      <vt:lpstr>¿Qué es la depresión?</vt:lpstr>
      <vt:lpstr>Presentación de PowerPoint</vt:lpstr>
      <vt:lpstr>NOMBRE Y CÓDIGO </vt:lpstr>
      <vt:lpstr>La guía hará referencia principalmente a los Episodios depresivos F32 , que a su vez comprenden: </vt:lpstr>
      <vt:lpstr>Presentación de PowerPoint</vt:lpstr>
      <vt:lpstr>Presentación de PowerPoint</vt:lpstr>
      <vt:lpstr>Presentación de PowerPoint</vt:lpstr>
      <vt:lpstr>¿Qué es la ansiedad? </vt:lpstr>
      <vt:lpstr>Presentación de PowerPoint</vt:lpstr>
      <vt:lpstr>Presentación de PowerPoint</vt:lpstr>
      <vt:lpstr>DESCRIPCIÓN DEL INVENTARIO DE DEPRESION DE ZUNG</vt:lpstr>
      <vt:lpstr>Presentación de PowerPoint</vt:lpstr>
      <vt:lpstr>Presentación de PowerPoint</vt:lpstr>
      <vt:lpstr>FRASES DE LA ESCALA DE DEPRESION DEL ZUNG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RESPUESTAS </vt:lpstr>
      <vt:lpstr>Presentación de PowerPoint</vt:lpstr>
      <vt:lpstr>INTERPRETACION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</vt:lpstr>
      <vt:lpstr>DESCRIPCIÓN DEL INVENTARIO DE ANSIEDAD DE ZUNG</vt:lpstr>
      <vt:lpstr>FRASES DE LA ESCALA DE ANSIEDAD DEL ZUNG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RESPUESTAS </vt:lpstr>
      <vt:lpstr>Presentación de PowerPoint</vt:lpstr>
      <vt:lpstr>INTERPRETACION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</vt:lpstr>
      <vt:lpstr>Presentación de PowerPoint</vt:lpstr>
      <vt:lpstr>DESCRIPCIÓN DEL INVENTARIO DE DEPRESION DE BECK</vt:lpstr>
      <vt:lpstr>Presentación de PowerPoint</vt:lpstr>
      <vt:lpstr>FRASES DEL INVENTARIO DE DEPRESION DE BECK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INTERPRETACION</vt:lpstr>
      <vt:lpstr>Presentación de PowerPoint</vt:lpstr>
      <vt:lpstr>La suma de los puntos te indica si estas en una zona de prevención, como la Anaranjada o Roja.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Neiver</dc:creator>
  <cp:lastModifiedBy>SpEcTrUm</cp:lastModifiedBy>
  <cp:revision>56</cp:revision>
  <dcterms:created xsi:type="dcterms:W3CDTF">2013-05-25T17:33:37Z</dcterms:created>
  <dcterms:modified xsi:type="dcterms:W3CDTF">2017-10-27T23:15:09Z</dcterms:modified>
</cp:coreProperties>
</file>